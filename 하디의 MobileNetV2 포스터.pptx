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2399288" cy="43200638"/>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4078"/>
    <a:srgbClr val="204064"/>
    <a:srgbClr val="002368"/>
    <a:srgbClr val="002774"/>
    <a:srgbClr val="002776"/>
    <a:srgbClr val="001E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14" autoAdjust="0"/>
  </p:normalViewPr>
  <p:slideViewPr>
    <p:cSldViewPr snapToGrid="0">
      <p:cViewPr>
        <p:scale>
          <a:sx n="50" d="100"/>
          <a:sy n="50" d="100"/>
        </p:scale>
        <p:origin x="102" y="-895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di Nazari" userId="fc6a8acc6a663153" providerId="LiveId" clId="{EA5E32FE-BC5B-4038-B940-C47F92647DBF}"/>
    <pc:docChg chg="undo custSel modSld">
      <pc:chgData name="Hadi Nazari" userId="fc6a8acc6a663153" providerId="LiveId" clId="{EA5E32FE-BC5B-4038-B940-C47F92647DBF}" dt="2025-08-06T05:04:07.164" v="48" actId="1076"/>
      <pc:docMkLst>
        <pc:docMk/>
      </pc:docMkLst>
      <pc:sldChg chg="modSp mod">
        <pc:chgData name="Hadi Nazari" userId="fc6a8acc6a663153" providerId="LiveId" clId="{EA5E32FE-BC5B-4038-B940-C47F92647DBF}" dt="2025-08-06T05:04:07.164" v="48" actId="1076"/>
        <pc:sldMkLst>
          <pc:docMk/>
          <pc:sldMk cId="2770947099" sldId="256"/>
        </pc:sldMkLst>
      </pc:sldChg>
    </pc:docChg>
  </pc:docChgLst>
  <pc:docChgLst>
    <pc:chgData name="Hadi Nazari" userId="fc6a8acc6a663153" providerId="LiveId" clId="{4D12E877-18E0-4242-ADC6-D5047D5A3BF9}"/>
    <pc:docChg chg="undo custSel modSld">
      <pc:chgData name="Hadi Nazari" userId="fc6a8acc6a663153" providerId="LiveId" clId="{4D12E877-18E0-4242-ADC6-D5047D5A3BF9}" dt="2025-09-25T07:25:44.666" v="444" actId="20577"/>
      <pc:docMkLst>
        <pc:docMk/>
      </pc:docMkLst>
      <pc:sldChg chg="delSp modSp mod">
        <pc:chgData name="Hadi Nazari" userId="fc6a8acc6a663153" providerId="LiveId" clId="{4D12E877-18E0-4242-ADC6-D5047D5A3BF9}" dt="2025-09-25T07:25:44.666" v="444" actId="20577"/>
        <pc:sldMkLst>
          <pc:docMk/>
          <pc:sldMk cId="2770947099" sldId="256"/>
        </pc:sldMkLst>
        <pc:spChg chg="mod">
          <ac:chgData name="Hadi Nazari" userId="fc6a8acc6a663153" providerId="LiveId" clId="{4D12E877-18E0-4242-ADC6-D5047D5A3BF9}" dt="2025-09-24T05:36:41.765" v="413" actId="20577"/>
          <ac:spMkLst>
            <pc:docMk/>
            <pc:sldMk cId="2770947099" sldId="256"/>
            <ac:spMk id="8" creationId="{521C972D-DA5A-4AA2-88EC-2F1D6CEBB886}"/>
          </ac:spMkLst>
        </pc:spChg>
        <pc:spChg chg="mod">
          <ac:chgData name="Hadi Nazari" userId="fc6a8acc6a663153" providerId="LiveId" clId="{4D12E877-18E0-4242-ADC6-D5047D5A3BF9}" dt="2025-09-25T07:25:44.666" v="444" actId="20577"/>
          <ac:spMkLst>
            <pc:docMk/>
            <pc:sldMk cId="2770947099" sldId="256"/>
            <ac:spMk id="17" creationId="{1B993C6A-2DF8-41B6-BE4A-564CFF650BAC}"/>
          </ac:spMkLst>
        </pc:spChg>
        <pc:spChg chg="mod">
          <ac:chgData name="Hadi Nazari" userId="fc6a8acc6a663153" providerId="LiveId" clId="{4D12E877-18E0-4242-ADC6-D5047D5A3BF9}" dt="2025-09-24T04:58:19.656" v="100" actId="20577"/>
          <ac:spMkLst>
            <pc:docMk/>
            <pc:sldMk cId="2770947099" sldId="256"/>
            <ac:spMk id="19" creationId="{66211DE3-2535-42CD-A440-BAE5EF25580D}"/>
          </ac:spMkLst>
        </pc:spChg>
        <pc:spChg chg="del">
          <ac:chgData name="Hadi Nazari" userId="fc6a8acc6a663153" providerId="LiveId" clId="{4D12E877-18E0-4242-ADC6-D5047D5A3BF9}" dt="2025-09-24T05:16:06.006" v="203" actId="478"/>
          <ac:spMkLst>
            <pc:docMk/>
            <pc:sldMk cId="2770947099" sldId="256"/>
            <ac:spMk id="28" creationId="{3B68440E-C0B4-59EB-D34D-D1DCA3AF527B}"/>
          </ac:spMkLst>
        </pc:spChg>
        <pc:spChg chg="del mod">
          <ac:chgData name="Hadi Nazari" userId="fc6a8acc6a663153" providerId="LiveId" clId="{4D12E877-18E0-4242-ADC6-D5047D5A3BF9}" dt="2025-09-24T05:32:59.421" v="380" actId="478"/>
          <ac:spMkLst>
            <pc:docMk/>
            <pc:sldMk cId="2770947099" sldId="256"/>
            <ac:spMk id="29" creationId="{93E2899A-22DD-DC33-C594-B5C0513BEF1F}"/>
          </ac:spMkLst>
        </pc:spChg>
        <pc:spChg chg="mod">
          <ac:chgData name="Hadi Nazari" userId="fc6a8acc6a663153" providerId="LiveId" clId="{4D12E877-18E0-4242-ADC6-D5047D5A3BF9}" dt="2025-09-24T05:38:48.053" v="418" actId="14838"/>
          <ac:spMkLst>
            <pc:docMk/>
            <pc:sldMk cId="2770947099" sldId="256"/>
            <ac:spMk id="30" creationId="{A74A0F64-C0FE-4DCB-96FE-EC228A013745}"/>
          </ac:spMkLst>
        </pc:spChg>
        <pc:spChg chg="mod">
          <ac:chgData name="Hadi Nazari" userId="fc6a8acc6a663153" providerId="LiveId" clId="{4D12E877-18E0-4242-ADC6-D5047D5A3BF9}" dt="2025-09-24T05:10:41.540" v="146"/>
          <ac:spMkLst>
            <pc:docMk/>
            <pc:sldMk cId="2770947099" sldId="256"/>
            <ac:spMk id="32" creationId="{269A7A4C-AE2F-4999-9E07-7DD5F626A3F2}"/>
          </ac:spMkLst>
        </pc:spChg>
        <pc:spChg chg="mod">
          <ac:chgData name="Hadi Nazari" userId="fc6a8acc6a663153" providerId="LiveId" clId="{4D12E877-18E0-4242-ADC6-D5047D5A3BF9}" dt="2025-09-24T05:15:39.590" v="198" actId="14100"/>
          <ac:spMkLst>
            <pc:docMk/>
            <pc:sldMk cId="2770947099" sldId="256"/>
            <ac:spMk id="33" creationId="{CEE61DC1-844F-4F7C-9BD9-7A133A7932B0}"/>
          </ac:spMkLst>
        </pc:spChg>
        <pc:spChg chg="del">
          <ac:chgData name="Hadi Nazari" userId="fc6a8acc6a663153" providerId="LiveId" clId="{4D12E877-18E0-4242-ADC6-D5047D5A3BF9}" dt="2025-09-24T05:16:02.478" v="202" actId="478"/>
          <ac:spMkLst>
            <pc:docMk/>
            <pc:sldMk cId="2770947099" sldId="256"/>
            <ac:spMk id="34" creationId="{8B46E2F9-289A-9E09-47FB-602CC76BEC8A}"/>
          </ac:spMkLst>
        </pc:spChg>
        <pc:spChg chg="mod">
          <ac:chgData name="Hadi Nazari" userId="fc6a8acc6a663153" providerId="LiveId" clId="{4D12E877-18E0-4242-ADC6-D5047D5A3BF9}" dt="2025-09-24T05:25:25.462" v="323" actId="20577"/>
          <ac:spMkLst>
            <pc:docMk/>
            <pc:sldMk cId="2770947099" sldId="256"/>
            <ac:spMk id="36" creationId="{C060790F-AD77-4070-8782-3CEE4B6DD3DC}"/>
          </ac:spMkLst>
        </pc:spChg>
        <pc:spChg chg="del mod">
          <ac:chgData name="Hadi Nazari" userId="fc6a8acc6a663153" providerId="LiveId" clId="{4D12E877-18E0-4242-ADC6-D5047D5A3BF9}" dt="2025-09-24T05:32:55.373" v="379" actId="478"/>
          <ac:spMkLst>
            <pc:docMk/>
            <pc:sldMk cId="2770947099" sldId="256"/>
            <ac:spMk id="51" creationId="{17B61307-6C48-2927-2209-D243CEB7AC33}"/>
          </ac:spMkLst>
        </pc:spChg>
        <pc:spChg chg="del">
          <ac:chgData name="Hadi Nazari" userId="fc6a8acc6a663153" providerId="LiveId" clId="{4D12E877-18E0-4242-ADC6-D5047D5A3BF9}" dt="2025-09-24T05:15:55.094" v="200" actId="478"/>
          <ac:spMkLst>
            <pc:docMk/>
            <pc:sldMk cId="2770947099" sldId="256"/>
            <ac:spMk id="52" creationId="{064D65B3-D3F4-4A94-A1B7-186435958718}"/>
          </ac:spMkLst>
        </pc:spChg>
        <pc:spChg chg="del mod">
          <ac:chgData name="Hadi Nazari" userId="fc6a8acc6a663153" providerId="LiveId" clId="{4D12E877-18E0-4242-ADC6-D5047D5A3BF9}" dt="2025-09-24T05:33:11.045" v="384" actId="478"/>
          <ac:spMkLst>
            <pc:docMk/>
            <pc:sldMk cId="2770947099" sldId="256"/>
            <ac:spMk id="57" creationId="{951CA7C8-5F73-BD86-CA51-FFE2587F3AFD}"/>
          </ac:spMkLst>
        </pc:spChg>
        <pc:spChg chg="mod">
          <ac:chgData name="Hadi Nazari" userId="fc6a8acc6a663153" providerId="LiveId" clId="{4D12E877-18E0-4242-ADC6-D5047D5A3BF9}" dt="2025-09-24T05:21:03.098" v="233" actId="20577"/>
          <ac:spMkLst>
            <pc:docMk/>
            <pc:sldMk cId="2770947099" sldId="256"/>
            <ac:spMk id="63" creationId="{9FF2E648-FCBD-6F95-FB28-7E7730769D01}"/>
          </ac:spMkLst>
        </pc:spChg>
        <pc:spChg chg="mod">
          <ac:chgData name="Hadi Nazari" userId="fc6a8acc6a663153" providerId="LiveId" clId="{4D12E877-18E0-4242-ADC6-D5047D5A3BF9}" dt="2025-09-24T05:16:55.589" v="220" actId="1076"/>
          <ac:spMkLst>
            <pc:docMk/>
            <pc:sldMk cId="2770947099" sldId="256"/>
            <ac:spMk id="153" creationId="{9CA13D38-F277-46C5-AB45-C0885740E381}"/>
          </ac:spMkLst>
        </pc:spChg>
        <pc:spChg chg="mod">
          <ac:chgData name="Hadi Nazari" userId="fc6a8acc6a663153" providerId="LiveId" clId="{4D12E877-18E0-4242-ADC6-D5047D5A3BF9}" dt="2025-09-24T05:27:55.236" v="349" actId="1076"/>
          <ac:spMkLst>
            <pc:docMk/>
            <pc:sldMk cId="2770947099" sldId="256"/>
            <ac:spMk id="158" creationId="{AD1DE384-CBD5-4234-AE58-86316B5C7856}"/>
          </ac:spMkLst>
        </pc:spChg>
        <pc:spChg chg="mod">
          <ac:chgData name="Hadi Nazari" userId="fc6a8acc6a663153" providerId="LiveId" clId="{4D12E877-18E0-4242-ADC6-D5047D5A3BF9}" dt="2025-09-24T05:27:49.796" v="348" actId="1076"/>
          <ac:spMkLst>
            <pc:docMk/>
            <pc:sldMk cId="2770947099" sldId="256"/>
            <ac:spMk id="159" creationId="{0C07B360-E465-4B62-91AB-ECCE5EA9593F}"/>
          </ac:spMkLst>
        </pc:spChg>
        <pc:graphicFrameChg chg="mod modGraphic">
          <ac:chgData name="Hadi Nazari" userId="fc6a8acc6a663153" providerId="LiveId" clId="{4D12E877-18E0-4242-ADC6-D5047D5A3BF9}" dt="2025-09-24T05:08:39.681" v="145"/>
          <ac:graphicFrameMkLst>
            <pc:docMk/>
            <pc:sldMk cId="2770947099" sldId="256"/>
            <ac:graphicFrameMk id="10" creationId="{149250D0-4079-AA44-400B-69F8437E5648}"/>
          </ac:graphicFrameMkLst>
        </pc:graphicFrameChg>
        <pc:graphicFrameChg chg="del">
          <ac:chgData name="Hadi Nazari" userId="fc6a8acc6a663153" providerId="LiveId" clId="{4D12E877-18E0-4242-ADC6-D5047D5A3BF9}" dt="2025-09-24T05:15:11.583" v="196" actId="478"/>
          <ac:graphicFrameMkLst>
            <pc:docMk/>
            <pc:sldMk cId="2770947099" sldId="256"/>
            <ac:graphicFrameMk id="11" creationId="{98B3BFB2-04F8-E7A4-BA21-BD77AA48FB0E}"/>
          </ac:graphicFrameMkLst>
        </pc:graphicFrameChg>
        <pc:graphicFrameChg chg="mod modGraphic">
          <ac:chgData name="Hadi Nazari" userId="fc6a8acc6a663153" providerId="LiveId" clId="{4D12E877-18E0-4242-ADC6-D5047D5A3BF9}" dt="2025-09-24T05:23:54.645" v="319" actId="14100"/>
          <ac:graphicFrameMkLst>
            <pc:docMk/>
            <pc:sldMk cId="2770947099" sldId="256"/>
            <ac:graphicFrameMk id="60" creationId="{28D3355D-196D-2065-D594-F83A4E42C261}"/>
          </ac:graphicFrameMkLst>
        </pc:graphicFrameChg>
        <pc:picChg chg="mod">
          <ac:chgData name="Hadi Nazari" userId="fc6a8acc6a663153" providerId="LiveId" clId="{4D12E877-18E0-4242-ADC6-D5047D5A3BF9}" dt="2025-09-24T05:39:58.035" v="421" actId="1076"/>
          <ac:picMkLst>
            <pc:docMk/>
            <pc:sldMk cId="2770947099" sldId="256"/>
            <ac:picMk id="3" creationId="{D26571F0-6821-4E48-826F-FB68B809992E}"/>
          </ac:picMkLst>
        </pc:picChg>
        <pc:picChg chg="del">
          <ac:chgData name="Hadi Nazari" userId="fc6a8acc6a663153" providerId="LiveId" clId="{4D12E877-18E0-4242-ADC6-D5047D5A3BF9}" dt="2025-09-24T05:16:10.926" v="204" actId="478"/>
          <ac:picMkLst>
            <pc:docMk/>
            <pc:sldMk cId="2770947099" sldId="256"/>
            <ac:picMk id="13" creationId="{4B75F61A-AA03-B30F-380F-A7694209BA09}"/>
          </ac:picMkLst>
        </pc:picChg>
        <pc:picChg chg="del">
          <ac:chgData name="Hadi Nazari" userId="fc6a8acc6a663153" providerId="LiveId" clId="{4D12E877-18E0-4242-ADC6-D5047D5A3BF9}" dt="2025-09-24T05:15:58.477" v="201" actId="478"/>
          <ac:picMkLst>
            <pc:docMk/>
            <pc:sldMk cId="2770947099" sldId="256"/>
            <ac:picMk id="14" creationId="{7B18004B-0B92-7B4E-AEC4-E6456C0AE123}"/>
          </ac:picMkLst>
        </pc:picChg>
        <pc:picChg chg="del">
          <ac:chgData name="Hadi Nazari" userId="fc6a8acc6a663153" providerId="LiveId" clId="{4D12E877-18E0-4242-ADC6-D5047D5A3BF9}" dt="2025-09-24T05:15:48.279" v="199" actId="478"/>
          <ac:picMkLst>
            <pc:docMk/>
            <pc:sldMk cId="2770947099" sldId="256"/>
            <ac:picMk id="15" creationId="{D6DB0910-4BE1-4516-925B-0292C7A5C7E1}"/>
          </ac:picMkLst>
        </pc:picChg>
        <pc:picChg chg="mod">
          <ac:chgData name="Hadi Nazari" userId="fc6a8acc6a663153" providerId="LiveId" clId="{4D12E877-18E0-4242-ADC6-D5047D5A3BF9}" dt="2025-09-24T05:34:09.348" v="397" actId="14100"/>
          <ac:picMkLst>
            <pc:docMk/>
            <pc:sldMk cId="2770947099" sldId="256"/>
            <ac:picMk id="23" creationId="{B7B2A7AA-8B9B-DEBD-FD31-EB0FEB55D154}"/>
          </ac:picMkLst>
        </pc:picChg>
        <pc:picChg chg="mod">
          <ac:chgData name="Hadi Nazari" userId="fc6a8acc6a663153" providerId="LiveId" clId="{4D12E877-18E0-4242-ADC6-D5047D5A3BF9}" dt="2025-09-24T05:34:01.092" v="395" actId="14100"/>
          <ac:picMkLst>
            <pc:docMk/>
            <pc:sldMk cId="2770947099" sldId="256"/>
            <ac:picMk id="24" creationId="{2BEFAFE6-67F7-4C28-4FAC-A81D297FE42C}"/>
          </ac:picMkLst>
        </pc:picChg>
        <pc:picChg chg="mod">
          <ac:chgData name="Hadi Nazari" userId="fc6a8acc6a663153" providerId="LiveId" clId="{4D12E877-18E0-4242-ADC6-D5047D5A3BF9}" dt="2025-09-24T05:33:53.244" v="393" actId="14100"/>
          <ac:picMkLst>
            <pc:docMk/>
            <pc:sldMk cId="2770947099" sldId="256"/>
            <ac:picMk id="25" creationId="{C23E0AEE-D91E-57A4-4640-37B4FB6BC0BF}"/>
          </ac:picMkLst>
        </pc:picChg>
      </pc:sldChg>
    </pc:docChg>
  </pc:docChgLst>
  <pc:docChgLst>
    <pc:chgData name="Hadi Nazari" userId="fc6a8acc6a663153" providerId="LiveId" clId="{8F7DC28C-450B-46FA-8FB6-CEDE521B4DE3}"/>
    <pc:docChg chg="undo custSel modSld modNotesMaster">
      <pc:chgData name="Hadi Nazari" userId="fc6a8acc6a663153" providerId="LiveId" clId="{8F7DC28C-450B-46FA-8FB6-CEDE521B4DE3}" dt="2025-05-27T06:10:35.541" v="398" actId="20577"/>
      <pc:docMkLst>
        <pc:docMk/>
      </pc:docMkLst>
      <pc:sldChg chg="delSp modSp mod">
        <pc:chgData name="Hadi Nazari" userId="fc6a8acc6a663153" providerId="LiveId" clId="{8F7DC28C-450B-46FA-8FB6-CEDE521B4DE3}" dt="2025-05-27T06:10:35.541" v="398" actId="20577"/>
        <pc:sldMkLst>
          <pc:docMk/>
          <pc:sldMk cId="2770947099"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3038049" cy="465758"/>
          </a:xfrm>
          <a:prstGeom prst="rect">
            <a:avLst/>
          </a:prstGeom>
        </p:spPr>
        <p:txBody>
          <a:bodyPr vert="horz" lIns="85990" tIns="42995" rIns="85990" bIns="42995" rtlCol="0"/>
          <a:lstStyle>
            <a:lvl1pPr algn="l">
              <a:defRPr sz="1100"/>
            </a:lvl1pPr>
          </a:lstStyle>
          <a:p>
            <a:endParaRPr lang="ko-KR" altLang="en-US"/>
          </a:p>
        </p:txBody>
      </p:sp>
      <p:sp>
        <p:nvSpPr>
          <p:cNvPr id="3" name="날짜 개체 틀 2"/>
          <p:cNvSpPr>
            <a:spLocks noGrp="1"/>
          </p:cNvSpPr>
          <p:nvPr>
            <p:ph type="dt" idx="1"/>
          </p:nvPr>
        </p:nvSpPr>
        <p:spPr>
          <a:xfrm>
            <a:off x="3970784" y="1"/>
            <a:ext cx="3038049" cy="465758"/>
          </a:xfrm>
          <a:prstGeom prst="rect">
            <a:avLst/>
          </a:prstGeom>
        </p:spPr>
        <p:txBody>
          <a:bodyPr vert="horz" lIns="85990" tIns="42995" rIns="85990" bIns="42995" rtlCol="0"/>
          <a:lstStyle>
            <a:lvl1pPr algn="r">
              <a:defRPr sz="1100"/>
            </a:lvl1pPr>
          </a:lstStyle>
          <a:p>
            <a:fld id="{BD3BB30D-8D08-4BDB-A26F-777B2AEE0877}" type="datetimeFigureOut">
              <a:rPr lang="ko-KR" altLang="en-US" smtClean="0"/>
              <a:t>2026-03-23</a:t>
            </a:fld>
            <a:endParaRPr lang="ko-KR" altLang="en-US"/>
          </a:p>
        </p:txBody>
      </p:sp>
      <p:sp>
        <p:nvSpPr>
          <p:cNvPr id="4" name="슬라이드 이미지 개체 틀 3"/>
          <p:cNvSpPr>
            <a:spLocks noGrp="1" noRot="1" noChangeAspect="1"/>
          </p:cNvSpPr>
          <p:nvPr>
            <p:ph type="sldImg" idx="2"/>
          </p:nvPr>
        </p:nvSpPr>
        <p:spPr>
          <a:xfrm>
            <a:off x="2328863" y="1162050"/>
            <a:ext cx="2352675" cy="3138488"/>
          </a:xfrm>
          <a:prstGeom prst="rect">
            <a:avLst/>
          </a:prstGeom>
          <a:noFill/>
          <a:ln w="12700">
            <a:solidFill>
              <a:prstClr val="black"/>
            </a:solidFill>
          </a:ln>
        </p:spPr>
        <p:txBody>
          <a:bodyPr vert="horz" lIns="85990" tIns="42995" rIns="85990" bIns="42995" rtlCol="0" anchor="ctr"/>
          <a:lstStyle/>
          <a:p>
            <a:endParaRPr lang="ko-KR" altLang="en-US"/>
          </a:p>
        </p:txBody>
      </p:sp>
      <p:sp>
        <p:nvSpPr>
          <p:cNvPr id="5" name="슬라이드 노트 개체 틀 4"/>
          <p:cNvSpPr>
            <a:spLocks noGrp="1"/>
          </p:cNvSpPr>
          <p:nvPr>
            <p:ph type="body" sz="quarter" idx="3"/>
          </p:nvPr>
        </p:nvSpPr>
        <p:spPr>
          <a:xfrm>
            <a:off x="700728" y="4474444"/>
            <a:ext cx="5608947" cy="3659727"/>
          </a:xfrm>
          <a:prstGeom prst="rect">
            <a:avLst/>
          </a:prstGeom>
        </p:spPr>
        <p:txBody>
          <a:bodyPr vert="horz" lIns="85990" tIns="42995" rIns="85990" bIns="42995"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8830644"/>
            <a:ext cx="3038049" cy="465758"/>
          </a:xfrm>
          <a:prstGeom prst="rect">
            <a:avLst/>
          </a:prstGeom>
        </p:spPr>
        <p:txBody>
          <a:bodyPr vert="horz" lIns="85990" tIns="42995" rIns="85990" bIns="42995" rtlCol="0" anchor="b"/>
          <a:lstStyle>
            <a:lvl1pPr algn="l">
              <a:defRPr sz="1100"/>
            </a:lvl1pPr>
          </a:lstStyle>
          <a:p>
            <a:endParaRPr lang="ko-KR" altLang="en-US"/>
          </a:p>
        </p:txBody>
      </p:sp>
      <p:sp>
        <p:nvSpPr>
          <p:cNvPr id="7" name="슬라이드 번호 개체 틀 6"/>
          <p:cNvSpPr>
            <a:spLocks noGrp="1"/>
          </p:cNvSpPr>
          <p:nvPr>
            <p:ph type="sldNum" sz="quarter" idx="5"/>
          </p:nvPr>
        </p:nvSpPr>
        <p:spPr>
          <a:xfrm>
            <a:off x="3970784" y="8830644"/>
            <a:ext cx="3038049" cy="465758"/>
          </a:xfrm>
          <a:prstGeom prst="rect">
            <a:avLst/>
          </a:prstGeom>
        </p:spPr>
        <p:txBody>
          <a:bodyPr vert="horz" lIns="85990" tIns="42995" rIns="85990" bIns="42995" rtlCol="0" anchor="b"/>
          <a:lstStyle>
            <a:lvl1pPr algn="r">
              <a:defRPr sz="1100"/>
            </a:lvl1pPr>
          </a:lstStyle>
          <a:p>
            <a:fld id="{DB18FFA4-4A1A-4A50-AC7A-5BA03EC9E809}" type="slidenum">
              <a:rPr lang="ko-KR" altLang="en-US" smtClean="0"/>
              <a:t>‹#›</a:t>
            </a:fld>
            <a:endParaRPr lang="ko-KR" altLang="en-US"/>
          </a:p>
        </p:txBody>
      </p:sp>
    </p:spTree>
    <p:extLst>
      <p:ext uri="{BB962C8B-B14F-4D97-AF65-F5344CB8AC3E}">
        <p14:creationId xmlns:p14="http://schemas.microsoft.com/office/powerpoint/2010/main" val="348292694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fld id="{DB18FFA4-4A1A-4A50-AC7A-5BA03EC9E809}" type="slidenum">
              <a:rPr lang="ko-KR" altLang="en-US" smtClean="0"/>
              <a:t>1</a:t>
            </a:fld>
            <a:endParaRPr lang="ko-KR" altLang="en-US"/>
          </a:p>
        </p:txBody>
      </p:sp>
    </p:spTree>
    <p:extLst>
      <p:ext uri="{BB962C8B-B14F-4D97-AF65-F5344CB8AC3E}">
        <p14:creationId xmlns:p14="http://schemas.microsoft.com/office/powerpoint/2010/main" val="1840746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7070108"/>
            <a:ext cx="27539395" cy="15040222"/>
          </a:xfrm>
        </p:spPr>
        <p:txBody>
          <a:bodyPr anchor="b"/>
          <a:lstStyle>
            <a:lvl1pPr algn="ctr">
              <a:defRPr sz="21259"/>
            </a:lvl1pPr>
          </a:lstStyle>
          <a:p>
            <a:r>
              <a:rPr lang="ko-KR" altLang="en-US"/>
              <a:t>마스터 제목 스타일 편집</a:t>
            </a:r>
            <a:endParaRPr lang="en-US" dirty="0"/>
          </a:p>
        </p:txBody>
      </p:sp>
      <p:sp>
        <p:nvSpPr>
          <p:cNvPr id="3" name="Subtitle 2"/>
          <p:cNvSpPr>
            <a:spLocks noGrp="1"/>
          </p:cNvSpPr>
          <p:nvPr>
            <p:ph type="subTitle" idx="1"/>
          </p:nvPr>
        </p:nvSpPr>
        <p:spPr>
          <a:xfrm>
            <a:off x="4049911" y="22690338"/>
            <a:ext cx="24299466" cy="10430151"/>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102544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1120890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2210578" y="10770172"/>
            <a:ext cx="27944386" cy="17970262"/>
          </a:xfrm>
        </p:spPr>
        <p:txBody>
          <a:bodyPr anchor="b"/>
          <a:lstStyle>
            <a:lvl1pPr>
              <a:defRPr sz="21259"/>
            </a:lvl1pPr>
          </a:lstStyle>
          <a:p>
            <a:r>
              <a:rPr lang="ko-KR" altLang="en-US"/>
              <a:t>마스터 제목 스타일 편집</a:t>
            </a:r>
            <a:endParaRPr lang="en-US" dirty="0"/>
          </a:p>
        </p:txBody>
      </p:sp>
      <p:sp>
        <p:nvSpPr>
          <p:cNvPr id="3" name="Text Placeholder 2"/>
          <p:cNvSpPr>
            <a:spLocks noGrp="1"/>
          </p:cNvSpPr>
          <p:nvPr>
            <p:ph type="body" idx="1"/>
          </p:nvPr>
        </p:nvSpPr>
        <p:spPr>
          <a:xfrm>
            <a:off x="2210578" y="28910440"/>
            <a:ext cx="27944386" cy="9450136"/>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3805458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2227451" y="11500170"/>
            <a:ext cx="13769697" cy="2741040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16402140" y="11500170"/>
            <a:ext cx="13769697" cy="2741040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4143139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2231671" y="2300044"/>
            <a:ext cx="27944386" cy="8350126"/>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2231675" y="10590160"/>
            <a:ext cx="13706415"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ko-KR" altLang="en-US"/>
              <a:t>마스터 텍스트 스타일 편집</a:t>
            </a:r>
          </a:p>
        </p:txBody>
      </p:sp>
      <p:sp>
        <p:nvSpPr>
          <p:cNvPr id="4" name="Content Placeholder 3"/>
          <p:cNvSpPr>
            <a:spLocks noGrp="1"/>
          </p:cNvSpPr>
          <p:nvPr>
            <p:ph sz="half" idx="2"/>
          </p:nvPr>
        </p:nvSpPr>
        <p:spPr>
          <a:xfrm>
            <a:off x="2231675" y="15780233"/>
            <a:ext cx="13706415" cy="23210346"/>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16402142" y="10590160"/>
            <a:ext cx="13773917"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ko-KR" altLang="en-US"/>
              <a:t>마스터 텍스트 스타일 편집</a:t>
            </a:r>
          </a:p>
        </p:txBody>
      </p:sp>
      <p:sp>
        <p:nvSpPr>
          <p:cNvPr id="6" name="Content Placeholder 5"/>
          <p:cNvSpPr>
            <a:spLocks noGrp="1"/>
          </p:cNvSpPr>
          <p:nvPr>
            <p:ph sz="quarter" idx="4"/>
          </p:nvPr>
        </p:nvSpPr>
        <p:spPr>
          <a:xfrm>
            <a:off x="16402142" y="15780233"/>
            <a:ext cx="13773917" cy="23210346"/>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1831545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2211353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3437654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ko-KR" altLang="en-US"/>
              <a:t>마스터 제목 스타일 편집</a:t>
            </a:r>
            <a:endParaRPr lang="en-US" dirty="0"/>
          </a:p>
        </p:txBody>
      </p:sp>
      <p:sp>
        <p:nvSpPr>
          <p:cNvPr id="3" name="Content Placeholder 2"/>
          <p:cNvSpPr>
            <a:spLocks noGrp="1"/>
          </p:cNvSpPr>
          <p:nvPr>
            <p:ph idx="1"/>
          </p:nvPr>
        </p:nvSpPr>
        <p:spPr>
          <a:xfrm>
            <a:off x="13773917" y="6220102"/>
            <a:ext cx="16402140" cy="30700453"/>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3617519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13773917" y="6220102"/>
            <a:ext cx="16402140" cy="30700453"/>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106662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2409863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5742" y="2300034"/>
            <a:ext cx="6986096" cy="36610544"/>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2227453" y="2300034"/>
            <a:ext cx="20553298" cy="36610544"/>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DC4846A1-21A8-4E46-ABAF-7CFE87F39052}" type="datetimeFigureOut">
              <a:rPr lang="ko-KR" altLang="en-US" smtClean="0"/>
              <a:t>2026-03-23</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1361452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0407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300044"/>
            <a:ext cx="27944386" cy="8350126"/>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2227451" y="11500170"/>
            <a:ext cx="27944386" cy="2741040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2227451" y="40040601"/>
            <a:ext cx="7289840" cy="2300034"/>
          </a:xfrm>
          <a:prstGeom prst="rect">
            <a:avLst/>
          </a:prstGeom>
        </p:spPr>
        <p:txBody>
          <a:bodyPr vert="horz" lIns="91440" tIns="45720" rIns="91440" bIns="45720" rtlCol="0" anchor="ctr"/>
          <a:lstStyle>
            <a:lvl1pPr algn="l">
              <a:defRPr sz="4252">
                <a:solidFill>
                  <a:schemeClr val="tx1">
                    <a:tint val="75000"/>
                  </a:schemeClr>
                </a:solidFill>
              </a:defRPr>
            </a:lvl1pPr>
          </a:lstStyle>
          <a:p>
            <a:fld id="{DC4846A1-21A8-4E46-ABAF-7CFE87F39052}" type="datetimeFigureOut">
              <a:rPr lang="ko-KR" altLang="en-US" smtClean="0"/>
              <a:t>2026-03-23</a:t>
            </a:fld>
            <a:endParaRPr lang="ko-KR" altLang="en-US"/>
          </a:p>
        </p:txBody>
      </p:sp>
      <p:sp>
        <p:nvSpPr>
          <p:cNvPr id="5" name="Footer Placeholder 4"/>
          <p:cNvSpPr>
            <a:spLocks noGrp="1"/>
          </p:cNvSpPr>
          <p:nvPr>
            <p:ph type="ftr" sz="quarter" idx="3"/>
          </p:nvPr>
        </p:nvSpPr>
        <p:spPr>
          <a:xfrm>
            <a:off x="10732264" y="40040601"/>
            <a:ext cx="10934760" cy="2300034"/>
          </a:xfrm>
          <a:prstGeom prst="rect">
            <a:avLst/>
          </a:prstGeom>
        </p:spPr>
        <p:txBody>
          <a:bodyPr vert="horz" lIns="91440" tIns="45720" rIns="91440" bIns="45720" rtlCol="0" anchor="ctr"/>
          <a:lstStyle>
            <a:lvl1pPr algn="ctr">
              <a:defRPr sz="4252">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22881997" y="40040601"/>
            <a:ext cx="7289840" cy="2300034"/>
          </a:xfrm>
          <a:prstGeom prst="rect">
            <a:avLst/>
          </a:prstGeom>
        </p:spPr>
        <p:txBody>
          <a:bodyPr vert="horz" lIns="91440" tIns="45720" rIns="91440" bIns="45720" rtlCol="0" anchor="ctr"/>
          <a:lstStyle>
            <a:lvl1pPr algn="r">
              <a:defRPr sz="4252">
                <a:solidFill>
                  <a:schemeClr val="tx1">
                    <a:tint val="75000"/>
                  </a:schemeClr>
                </a:solidFill>
              </a:defRPr>
            </a:lvl1pPr>
          </a:lstStyle>
          <a:p>
            <a:fld id="{43191083-4A10-415F-94E4-7A6B97D3BFA7}" type="slidenum">
              <a:rPr lang="ko-KR" altLang="en-US" smtClean="0"/>
              <a:t>‹#›</a:t>
            </a:fld>
            <a:endParaRPr lang="ko-KR" altLang="en-US"/>
          </a:p>
        </p:txBody>
      </p:sp>
    </p:spTree>
    <p:extLst>
      <p:ext uri="{BB962C8B-B14F-4D97-AF65-F5344CB8AC3E}">
        <p14:creationId xmlns:p14="http://schemas.microsoft.com/office/powerpoint/2010/main" val="4077902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39902" rtl="0" eaLnBrk="1" latinLnBrk="1"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1"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1"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1"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1"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1"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1"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1"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1"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1"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1" hangingPunct="1">
        <a:defRPr sz="6378" kern="1200">
          <a:solidFill>
            <a:schemeClr val="tx1"/>
          </a:solidFill>
          <a:latin typeface="+mn-lt"/>
          <a:ea typeface="+mn-ea"/>
          <a:cs typeface="+mn-cs"/>
        </a:defRPr>
      </a:lvl1pPr>
      <a:lvl2pPr marL="1619951" algn="l" defTabSz="3239902" rtl="0" eaLnBrk="1" latinLnBrk="1" hangingPunct="1">
        <a:defRPr sz="6378" kern="1200">
          <a:solidFill>
            <a:schemeClr val="tx1"/>
          </a:solidFill>
          <a:latin typeface="+mn-lt"/>
          <a:ea typeface="+mn-ea"/>
          <a:cs typeface="+mn-cs"/>
        </a:defRPr>
      </a:lvl2pPr>
      <a:lvl3pPr marL="3239902" algn="l" defTabSz="3239902" rtl="0" eaLnBrk="1" latinLnBrk="1" hangingPunct="1">
        <a:defRPr sz="6378" kern="1200">
          <a:solidFill>
            <a:schemeClr val="tx1"/>
          </a:solidFill>
          <a:latin typeface="+mn-lt"/>
          <a:ea typeface="+mn-ea"/>
          <a:cs typeface="+mn-cs"/>
        </a:defRPr>
      </a:lvl3pPr>
      <a:lvl4pPr marL="4859853" algn="l" defTabSz="3239902" rtl="0" eaLnBrk="1" latinLnBrk="1" hangingPunct="1">
        <a:defRPr sz="6378" kern="1200">
          <a:solidFill>
            <a:schemeClr val="tx1"/>
          </a:solidFill>
          <a:latin typeface="+mn-lt"/>
          <a:ea typeface="+mn-ea"/>
          <a:cs typeface="+mn-cs"/>
        </a:defRPr>
      </a:lvl4pPr>
      <a:lvl5pPr marL="6479804" algn="l" defTabSz="3239902" rtl="0" eaLnBrk="1" latinLnBrk="1" hangingPunct="1">
        <a:defRPr sz="6378" kern="1200">
          <a:solidFill>
            <a:schemeClr val="tx1"/>
          </a:solidFill>
          <a:latin typeface="+mn-lt"/>
          <a:ea typeface="+mn-ea"/>
          <a:cs typeface="+mn-cs"/>
        </a:defRPr>
      </a:lvl5pPr>
      <a:lvl6pPr marL="8099755" algn="l" defTabSz="3239902" rtl="0" eaLnBrk="1" latinLnBrk="1" hangingPunct="1">
        <a:defRPr sz="6378" kern="1200">
          <a:solidFill>
            <a:schemeClr val="tx1"/>
          </a:solidFill>
          <a:latin typeface="+mn-lt"/>
          <a:ea typeface="+mn-ea"/>
          <a:cs typeface="+mn-cs"/>
        </a:defRPr>
      </a:lvl6pPr>
      <a:lvl7pPr marL="9719706" algn="l" defTabSz="3239902" rtl="0" eaLnBrk="1" latinLnBrk="1" hangingPunct="1">
        <a:defRPr sz="6378" kern="1200">
          <a:solidFill>
            <a:schemeClr val="tx1"/>
          </a:solidFill>
          <a:latin typeface="+mn-lt"/>
          <a:ea typeface="+mn-ea"/>
          <a:cs typeface="+mn-cs"/>
        </a:defRPr>
      </a:lvl7pPr>
      <a:lvl8pPr marL="11339657" algn="l" defTabSz="3239902" rtl="0" eaLnBrk="1" latinLnBrk="1" hangingPunct="1">
        <a:defRPr sz="6378" kern="1200">
          <a:solidFill>
            <a:schemeClr val="tx1"/>
          </a:solidFill>
          <a:latin typeface="+mn-lt"/>
          <a:ea typeface="+mn-ea"/>
          <a:cs typeface="+mn-cs"/>
        </a:defRPr>
      </a:lvl8pPr>
      <a:lvl9pPr marL="12959608" algn="l" defTabSz="3239902" rtl="0" eaLnBrk="1" latinLnBrk="1"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모서리가 둥근 직사각형 233">
            <a:extLst>
              <a:ext uri="{FF2B5EF4-FFF2-40B4-BE49-F238E27FC236}">
                <a16:creationId xmlns:a16="http://schemas.microsoft.com/office/drawing/2014/main" id="{9CA13D38-F277-46C5-AB45-C0885740E381}"/>
              </a:ext>
            </a:extLst>
          </p:cNvPr>
          <p:cNvSpPr/>
          <p:nvPr/>
        </p:nvSpPr>
        <p:spPr>
          <a:xfrm>
            <a:off x="719753" y="5644883"/>
            <a:ext cx="31253768" cy="36369086"/>
          </a:xfrm>
          <a:prstGeom prst="roundRect">
            <a:avLst>
              <a:gd name="adj" fmla="val 0"/>
            </a:avLst>
          </a:prstGeom>
          <a:ln w="38100">
            <a:noFill/>
          </a:ln>
          <a:effectLst>
            <a:innerShdw blurRad="63500" dist="50800">
              <a:prstClr val="black">
                <a:alpha val="50000"/>
              </a:prstClr>
            </a:innerShdw>
          </a:effectLst>
          <a:scene3d>
            <a:camera prst="orthographicFront">
              <a:rot lat="0" lon="0" rev="0"/>
            </a:camera>
            <a:lightRig rig="balanced" dir="t">
              <a:rot lat="0" lon="0" rev="8700000"/>
            </a:lightRig>
          </a:scene3d>
          <a:sp3d>
            <a:bevelT w="190500" h="38100" prst="relaxedInset"/>
          </a:sp3d>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just" fontAlgn="base" latinLnBrk="1">
              <a:lnSpc>
                <a:spcPct val="120000"/>
              </a:lnSpc>
              <a:tabLst>
                <a:tab pos="144780" algn="l"/>
                <a:tab pos="360680" algn="l"/>
                <a:tab pos="720090" algn="l"/>
                <a:tab pos="2880360" algn="r"/>
                <a:tab pos="144780" algn="l"/>
                <a:tab pos="360680" algn="l"/>
                <a:tab pos="720090" algn="l"/>
                <a:tab pos="2880360" algn="r"/>
              </a:tabLst>
            </a:pPr>
            <a:endParaRPr lang="en-US" sz="1800" kern="0" spc="0" dirty="0">
              <a:solidFill>
                <a:srgbClr val="000000"/>
              </a:solidFill>
              <a:effectLst/>
              <a:latin typeface="Times New Roman" panose="02020603050405020304" pitchFamily="18" charset="0"/>
            </a:endParaRPr>
          </a:p>
        </p:txBody>
      </p:sp>
      <p:sp>
        <p:nvSpPr>
          <p:cNvPr id="8" name="직사각형 7">
            <a:extLst>
              <a:ext uri="{FF2B5EF4-FFF2-40B4-BE49-F238E27FC236}">
                <a16:creationId xmlns:a16="http://schemas.microsoft.com/office/drawing/2014/main" id="{521C972D-DA5A-4AA2-88EC-2F1D6CEBB886}"/>
              </a:ext>
            </a:extLst>
          </p:cNvPr>
          <p:cNvSpPr/>
          <p:nvPr/>
        </p:nvSpPr>
        <p:spPr>
          <a:xfrm>
            <a:off x="968187" y="-93818"/>
            <a:ext cx="30497931" cy="3454215"/>
          </a:xfrm>
          <a:prstGeom prst="rect">
            <a:avLst/>
          </a:prstGeom>
          <a:solidFill>
            <a:srgbClr val="204078"/>
          </a:solidFill>
        </p:spPr>
        <p:txBody>
          <a:bodyPr wrap="square">
            <a:spAutoFit/>
          </a:bodyPr>
          <a:lstStyle/>
          <a:p>
            <a:pPr algn="ctr" fontAlgn="base">
              <a:lnSpc>
                <a:spcPct val="130000"/>
              </a:lnSpc>
            </a:pPr>
            <a:r>
              <a:rPr lang="en-US" sz="6000" b="1" kern="0" spc="-50" dirty="0">
                <a:solidFill>
                  <a:schemeClr val="bg1"/>
                </a:solidFill>
                <a:latin typeface="Century Gothic" panose="020B0502020202020204" pitchFamily="34" charset="0"/>
                <a:ea typeface="HY견고딕" panose="02030600000101010101" pitchFamily="18" charset="-127"/>
              </a:rPr>
              <a:t>Lightweight Deep Learning for Electric Fire Short-Circuit marks Classification Using MobileNetV2</a:t>
            </a:r>
          </a:p>
          <a:p>
            <a:pPr algn="ctr" fontAlgn="base">
              <a:lnSpc>
                <a:spcPct val="130000"/>
              </a:lnSpc>
            </a:pPr>
            <a:r>
              <a:rPr lang="ko-KR" altLang="en-US" sz="5400" b="1" kern="0" spc="-50" dirty="0">
                <a:solidFill>
                  <a:schemeClr val="bg1"/>
                </a:solidFill>
                <a:latin typeface="Century Gothic" panose="020B0502020202020204" pitchFamily="34" charset="0"/>
                <a:ea typeface="HY견고딕" panose="02030600000101010101" pitchFamily="18" charset="-127"/>
              </a:rPr>
              <a:t>모바일넷</a:t>
            </a:r>
            <a:r>
              <a:rPr lang="en-US" altLang="ko-KR" sz="5400" b="1" kern="0" spc="-50" dirty="0">
                <a:solidFill>
                  <a:schemeClr val="bg1"/>
                </a:solidFill>
                <a:latin typeface="Century Gothic" panose="020B0502020202020204" pitchFamily="34" charset="0"/>
                <a:ea typeface="HY견고딕" panose="02030600000101010101" pitchFamily="18" charset="-127"/>
              </a:rPr>
              <a:t>V2</a:t>
            </a:r>
            <a:r>
              <a:rPr lang="ko-KR" altLang="en-US" sz="5400" b="1" kern="0" spc="-50" dirty="0">
                <a:solidFill>
                  <a:schemeClr val="bg1"/>
                </a:solidFill>
                <a:latin typeface="Century Gothic" panose="020B0502020202020204" pitchFamily="34" charset="0"/>
                <a:ea typeface="HY견고딕" panose="02030600000101010101" pitchFamily="18" charset="-127"/>
              </a:rPr>
              <a:t>를 활용한 전기화재 단락흔 판별을 위한 경량 딥러닝 모델</a:t>
            </a:r>
          </a:p>
        </p:txBody>
      </p:sp>
      <p:sp>
        <p:nvSpPr>
          <p:cNvPr id="12" name="사각형: 둥근 모서리 11">
            <a:extLst>
              <a:ext uri="{FF2B5EF4-FFF2-40B4-BE49-F238E27FC236}">
                <a16:creationId xmlns:a16="http://schemas.microsoft.com/office/drawing/2014/main" id="{562DB834-4A4A-4ACC-95C8-19B53EBB824E}"/>
              </a:ext>
            </a:extLst>
          </p:cNvPr>
          <p:cNvSpPr/>
          <p:nvPr/>
        </p:nvSpPr>
        <p:spPr>
          <a:xfrm>
            <a:off x="968187" y="6481688"/>
            <a:ext cx="30497907" cy="1169966"/>
          </a:xfrm>
          <a:prstGeom prst="roundRect">
            <a:avLst/>
          </a:prstGeom>
          <a:solidFill>
            <a:srgbClr val="204078"/>
          </a:solidFill>
        </p:spPr>
        <p:txBody>
          <a:bodyPr wrap="square" tIns="0" bIns="0" anchor="ctr">
            <a:no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altLang="ko-KR" sz="4800" b="1" i="0" u="none" strike="noStrike" kern="1200" cap="none" spc="0" normalizeH="0" baseline="0" noProof="0" dirty="0">
                <a:ln>
                  <a:noFill/>
                </a:ln>
                <a:solidFill>
                  <a:prstClr val="white"/>
                </a:solidFill>
                <a:effectLst/>
                <a:uLnTx/>
                <a:uFillTx/>
                <a:latin typeface="+mj-ea"/>
                <a:ea typeface="+mj-ea"/>
                <a:cs typeface="Times New Roman" panose="02020603050405020304" pitchFamily="18" charset="0"/>
              </a:rPr>
              <a:t>Abstract</a:t>
            </a:r>
            <a:endParaRPr kumimoji="0" lang="ko-KR" altLang="ko-KR" sz="4800" b="1" i="0" u="none" strike="noStrike" kern="1200" cap="none" spc="0" normalizeH="0" baseline="0" noProof="0" dirty="0">
              <a:ln>
                <a:noFill/>
              </a:ln>
              <a:solidFill>
                <a:prstClr val="white"/>
              </a:solidFill>
              <a:effectLst/>
              <a:uLnTx/>
              <a:uFillTx/>
              <a:latin typeface="+mj-ea"/>
              <a:ea typeface="+mj-ea"/>
              <a:cs typeface="Times New Roman" panose="02020603050405020304" pitchFamily="18" charset="0"/>
            </a:endParaRPr>
          </a:p>
        </p:txBody>
      </p:sp>
      <p:sp>
        <p:nvSpPr>
          <p:cNvPr id="17" name="직사각형 16">
            <a:extLst>
              <a:ext uri="{FF2B5EF4-FFF2-40B4-BE49-F238E27FC236}">
                <a16:creationId xmlns:a16="http://schemas.microsoft.com/office/drawing/2014/main" id="{1B993C6A-2DF8-41B6-BE4A-564CFF650BAC}"/>
              </a:ext>
            </a:extLst>
          </p:cNvPr>
          <p:cNvSpPr/>
          <p:nvPr/>
        </p:nvSpPr>
        <p:spPr>
          <a:xfrm>
            <a:off x="968187" y="7627464"/>
            <a:ext cx="30267717" cy="35348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algn="just" fontAlgn="base" latinLnBrk="1">
              <a:lnSpc>
                <a:spcPct val="150000"/>
              </a:lnSpc>
            </a:pPr>
            <a:r>
              <a:rPr lang="en-US" altLang="en-US" sz="3200" dirty="0">
                <a:solidFill>
                  <a:schemeClr val="tx1"/>
                </a:solidFill>
                <a:latin typeface="Arial" panose="020B0604020202020204" pitchFamily="34" charset="0"/>
              </a:rPr>
              <a:t>Electrical short circuits are a major cause of electrical fires, making accurate trace identification essential for fire investigations. This paper evaluates three lightweight deep learning models MobileNetV2, MobileNetV3, and </a:t>
            </a:r>
            <a:r>
              <a:rPr lang="en-US" altLang="en-US" sz="3200" dirty="0" err="1">
                <a:solidFill>
                  <a:schemeClr val="tx1"/>
                </a:solidFill>
                <a:latin typeface="Arial" panose="020B0604020202020204" pitchFamily="34" charset="0"/>
              </a:rPr>
              <a:t>EfficientNet</a:t>
            </a:r>
            <a:r>
              <a:rPr lang="en-US" altLang="en-US" sz="3200" dirty="0">
                <a:solidFill>
                  <a:schemeClr val="tx1"/>
                </a:solidFill>
                <a:latin typeface="Arial" panose="020B0604020202020204" pitchFamily="34" charset="0"/>
              </a:rPr>
              <a:t> for classifying PSCT and SSCT using a dataset of 752 images (80% training, 20% testing) with      data augmentation and transfer learning. </a:t>
            </a:r>
            <a:r>
              <a:rPr lang="en-US" altLang="en-US" sz="3200" dirty="0" err="1">
                <a:solidFill>
                  <a:schemeClr val="tx1"/>
                </a:solidFill>
                <a:latin typeface="Arial" panose="020B0604020202020204" pitchFamily="34" charset="0"/>
              </a:rPr>
              <a:t>EfficientNet</a:t>
            </a:r>
            <a:r>
              <a:rPr lang="en-US" altLang="en-US" sz="3200" dirty="0">
                <a:solidFill>
                  <a:schemeClr val="tx1"/>
                </a:solidFill>
                <a:latin typeface="Arial" panose="020B0604020202020204" pitchFamily="34" charset="0"/>
              </a:rPr>
              <a:t> achieved the highest accuracy (96.05%), while MobileNetV3 showed the lowest validation loss, confirming the    effectiveness of lightweight CNN models.</a:t>
            </a:r>
          </a:p>
        </p:txBody>
      </p:sp>
      <p:sp>
        <p:nvSpPr>
          <p:cNvPr id="18" name="사각형: 둥근 모서리 17">
            <a:extLst>
              <a:ext uri="{FF2B5EF4-FFF2-40B4-BE49-F238E27FC236}">
                <a16:creationId xmlns:a16="http://schemas.microsoft.com/office/drawing/2014/main" id="{4A05972D-6A4C-4515-95FD-86249FAD584F}"/>
              </a:ext>
            </a:extLst>
          </p:cNvPr>
          <p:cNvSpPr/>
          <p:nvPr/>
        </p:nvSpPr>
        <p:spPr>
          <a:xfrm>
            <a:off x="1070826" y="11704381"/>
            <a:ext cx="15088802" cy="885349"/>
          </a:xfrm>
          <a:prstGeom prst="roundRect">
            <a:avLst/>
          </a:prstGeom>
          <a:solidFill>
            <a:srgbClr val="204078"/>
          </a:solidFill>
        </p:spPr>
        <p:txBody>
          <a:bodyPr wrap="square" anchor="ctr" anchorCtr="1">
            <a:spAutoFit/>
          </a:bodyPr>
          <a:lstStyle/>
          <a:p>
            <a:pPr lvl="0" algn="ctr" rtl="0" latinLnBrk="1"/>
            <a:r>
              <a:rPr lang="en-US" sz="4600" b="1" dirty="0">
                <a:solidFill>
                  <a:prstClr val="white"/>
                </a:solidFill>
                <a:latin typeface="Century Gothic" panose="020B0502020202020204" pitchFamily="34" charset="0"/>
                <a:ea typeface="맑은 고딕" panose="020B0503020000020004" pitchFamily="50" charset="-127"/>
                <a:cs typeface="Times New Roman" panose="02020603050405020304" pitchFamily="18" charset="0"/>
              </a:rPr>
              <a:t>Introduction</a:t>
            </a:r>
          </a:p>
        </p:txBody>
      </p:sp>
      <p:sp>
        <p:nvSpPr>
          <p:cNvPr id="19" name="TextBox 18">
            <a:extLst>
              <a:ext uri="{FF2B5EF4-FFF2-40B4-BE49-F238E27FC236}">
                <a16:creationId xmlns:a16="http://schemas.microsoft.com/office/drawing/2014/main" id="{66211DE3-2535-42CD-A440-BAE5EF25580D}"/>
              </a:ext>
            </a:extLst>
          </p:cNvPr>
          <p:cNvSpPr txBox="1"/>
          <p:nvPr/>
        </p:nvSpPr>
        <p:spPr>
          <a:xfrm>
            <a:off x="841330" y="12854537"/>
            <a:ext cx="15112266" cy="3694409"/>
          </a:xfrm>
          <a:prstGeom prst="rect">
            <a:avLst/>
          </a:prstGeom>
          <a:noFill/>
        </p:spPr>
        <p:txBody>
          <a:bodyPr wrap="square" rtlCol="0">
            <a:spAutoFit/>
            <a:scene3d>
              <a:camera prst="orthographicFront"/>
              <a:lightRig rig="threePt" dir="t"/>
            </a:scene3d>
            <a:sp3d extrusionH="57150">
              <a:bevelT h="25400" prst="softRound"/>
            </a:sp3d>
          </a:bodyPr>
          <a:lstStyle/>
          <a:p>
            <a:pPr indent="180340" algn="just" latinLnBrk="1">
              <a:lnSpc>
                <a:spcPct val="150000"/>
              </a:lnSpc>
            </a:pPr>
            <a:r>
              <a:rPr lang="en-US" sz="3200" dirty="0">
                <a:latin typeface="Arial (Body)"/>
                <a:ea typeface="HY견고딕" panose="02030600000101010101" pitchFamily="18" charset="-127"/>
              </a:rPr>
              <a:t> </a:t>
            </a:r>
            <a:r>
              <a:rPr lang="en-US" altLang="en-US" sz="3200" dirty="0">
                <a:latin typeface="Arial" panose="020B0604020202020204" pitchFamily="34" charset="0"/>
              </a:rPr>
              <a:t>Electrical fires pose serious risks, requiring accurate identification of their origin. Short-circuit traces are classified as PSCT (before ignition) and SSCT (after ignition). This paper evaluates lightweight CNN models MobileNetV2, MobileNetV3, and </a:t>
            </a:r>
            <a:r>
              <a:rPr lang="en-US" altLang="en-US" sz="3200" dirty="0" err="1">
                <a:latin typeface="Arial" panose="020B0604020202020204" pitchFamily="34" charset="0"/>
              </a:rPr>
              <a:t>EfficientNet</a:t>
            </a:r>
            <a:r>
              <a:rPr lang="en-US" altLang="en-US" sz="3200" dirty="0">
                <a:latin typeface="Arial" panose="020B0604020202020204" pitchFamily="34" charset="0"/>
              </a:rPr>
              <a:t> for automated classification and explores their use in practical fire         investigation systems.</a:t>
            </a:r>
          </a:p>
        </p:txBody>
      </p:sp>
      <p:sp>
        <p:nvSpPr>
          <p:cNvPr id="20" name="사각형: 둥근 모서리 19">
            <a:extLst>
              <a:ext uri="{FF2B5EF4-FFF2-40B4-BE49-F238E27FC236}">
                <a16:creationId xmlns:a16="http://schemas.microsoft.com/office/drawing/2014/main" id="{0C88B55A-E97C-4829-8290-1AD203EAD895}"/>
              </a:ext>
            </a:extLst>
          </p:cNvPr>
          <p:cNvSpPr/>
          <p:nvPr/>
        </p:nvSpPr>
        <p:spPr>
          <a:xfrm>
            <a:off x="1085100" y="16892853"/>
            <a:ext cx="15088802" cy="885349"/>
          </a:xfrm>
          <a:prstGeom prst="roundRect">
            <a:avLst/>
          </a:prstGeom>
          <a:solidFill>
            <a:srgbClr val="204078"/>
          </a:solidFill>
        </p:spPr>
        <p:txBody>
          <a:bodyPr wrap="square" anchor="ctr" anchorCtr="1">
            <a:spAutoFit/>
          </a:bodyPr>
          <a:lstStyle/>
          <a:p>
            <a:pPr fontAlgn="base"/>
            <a:r>
              <a:rPr lang="en-US" sz="4600" b="1" dirty="0">
                <a:solidFill>
                  <a:prstClr val="white"/>
                </a:solidFill>
                <a:latin typeface="Century Gothic" panose="020B0502020202020204" pitchFamily="34" charset="0"/>
                <a:ea typeface="맑은 고딕" panose="020B0503020000020004" pitchFamily="50" charset="-127"/>
                <a:cs typeface="Times New Roman" panose="02020603050405020304" pitchFamily="18" charset="0"/>
              </a:rPr>
              <a:t>Related Work</a:t>
            </a:r>
          </a:p>
        </p:txBody>
      </p:sp>
      <p:sp>
        <p:nvSpPr>
          <p:cNvPr id="32" name="TextBox 31">
            <a:extLst>
              <a:ext uri="{FF2B5EF4-FFF2-40B4-BE49-F238E27FC236}">
                <a16:creationId xmlns:a16="http://schemas.microsoft.com/office/drawing/2014/main" id="{269A7A4C-AE2F-4999-9E07-7DD5F626A3F2}"/>
              </a:ext>
            </a:extLst>
          </p:cNvPr>
          <p:cNvSpPr txBox="1"/>
          <p:nvPr/>
        </p:nvSpPr>
        <p:spPr>
          <a:xfrm>
            <a:off x="1042915" y="18075946"/>
            <a:ext cx="15071273" cy="3706143"/>
          </a:xfrm>
          <a:prstGeom prst="rect">
            <a:avLst/>
          </a:prstGeom>
          <a:noFill/>
        </p:spPr>
        <p:txBody>
          <a:bodyPr wrap="square" rtlCol="0">
            <a:spAutoFit/>
            <a:scene3d>
              <a:camera prst="orthographicFront"/>
              <a:lightRig rig="threePt" dir="t"/>
            </a:scene3d>
            <a:sp3d extrusionH="57150">
              <a:bevelT h="25400" prst="softRound"/>
            </a:sp3d>
          </a:bodyPr>
          <a:lstStyle/>
          <a:p>
            <a:pPr algn="just">
              <a:lnSpc>
                <a:spcPct val="150000"/>
              </a:lnSpc>
              <a:buClr>
                <a:srgbClr val="204078"/>
              </a:buClr>
            </a:pPr>
            <a:r>
              <a:rPr lang="en-US" sz="3200" dirty="0">
                <a:latin typeface="Arial (Body)"/>
                <a:ea typeface="HY견고딕" panose="02030600000101010101" pitchFamily="18" charset="-127"/>
              </a:rPr>
              <a:t>   </a:t>
            </a:r>
            <a:r>
              <a:rPr lang="en-US" sz="3200" dirty="0"/>
              <a:t>Deep learning, especially CNNs, is widely used for image classification. While models like </a:t>
            </a:r>
            <a:r>
              <a:rPr lang="en-US" sz="3200" dirty="0" err="1"/>
              <a:t>AlexNet</a:t>
            </a:r>
            <a:r>
              <a:rPr lang="en-US" sz="3200" dirty="0"/>
              <a:t>, </a:t>
            </a:r>
            <a:r>
              <a:rPr lang="en-US" sz="3200" dirty="0" err="1"/>
              <a:t>VGGNet</a:t>
            </a:r>
            <a:r>
              <a:rPr lang="en-US" sz="3200" dirty="0"/>
              <a:t>, and </a:t>
            </a:r>
            <a:r>
              <a:rPr lang="en-US" sz="3200" dirty="0" err="1"/>
              <a:t>ResNet</a:t>
            </a:r>
            <a:r>
              <a:rPr lang="en-US" sz="3200" dirty="0"/>
              <a:t> improved accuracy, they require high computational resources. To address this, lightweight models such as MobileNetV2, MobileNetV3, and </a:t>
            </a:r>
            <a:r>
              <a:rPr lang="en-US" sz="3200" dirty="0" err="1"/>
              <a:t>EfficientNet</a:t>
            </a:r>
            <a:r>
              <a:rPr lang="en-US" sz="3200" dirty="0"/>
              <a:t> are used, offering efficient performance with reduced complexity while maintaining strong feature extraction.</a:t>
            </a:r>
            <a:endParaRPr lang="en-US" altLang="ko-KR" sz="3200" dirty="0">
              <a:latin typeface="Arial (Body)"/>
              <a:ea typeface="HY견고딕" panose="02030600000101010101" pitchFamily="18" charset="-127"/>
            </a:endParaRPr>
          </a:p>
        </p:txBody>
      </p:sp>
      <p:sp>
        <p:nvSpPr>
          <p:cNvPr id="36" name="TextBox 35">
            <a:extLst>
              <a:ext uri="{FF2B5EF4-FFF2-40B4-BE49-F238E27FC236}">
                <a16:creationId xmlns:a16="http://schemas.microsoft.com/office/drawing/2014/main" id="{C060790F-AD77-4070-8782-3CEE4B6DD3DC}"/>
              </a:ext>
            </a:extLst>
          </p:cNvPr>
          <p:cNvSpPr txBox="1"/>
          <p:nvPr/>
        </p:nvSpPr>
        <p:spPr>
          <a:xfrm>
            <a:off x="16263702" y="35260775"/>
            <a:ext cx="15088798" cy="4444807"/>
          </a:xfrm>
          <a:prstGeom prst="rect">
            <a:avLst/>
          </a:prstGeom>
          <a:noFill/>
        </p:spPr>
        <p:txBody>
          <a:bodyPr wrap="square" rtlCol="0">
            <a:spAutoFit/>
            <a:scene3d>
              <a:camera prst="orthographicFront"/>
              <a:lightRig rig="threePt" dir="t"/>
            </a:scene3d>
            <a:sp3d extrusionH="57150">
              <a:bevelT h="25400" prst="softRound"/>
            </a:sp3d>
          </a:bodyPr>
          <a:lstStyle/>
          <a:p>
            <a:pPr algn="just">
              <a:lnSpc>
                <a:spcPct val="150000"/>
              </a:lnSpc>
              <a:buClr>
                <a:srgbClr val="204078"/>
              </a:buClr>
            </a:pPr>
            <a:r>
              <a:rPr lang="en-US" sz="3200" dirty="0"/>
              <a:t>Lightweight CNN models effectively classify electric fire short-circuit traces with high accuracy and low computational cost, making them suitable for resource constrained devices. </a:t>
            </a:r>
            <a:r>
              <a:rPr lang="en-US" sz="3200" dirty="0" err="1"/>
              <a:t>EfficientNet</a:t>
            </a:r>
            <a:r>
              <a:rPr lang="en-US" sz="3200" dirty="0"/>
              <a:t> achieved the highest validation accuracy (96.05%), while MobileNetV3 showed stable performance with the lowest validation loss. These results confirm the potential of lightweight models for automated fire investigation systems, with future work focusing on dataset expansion and mobile application development.</a:t>
            </a:r>
            <a:endParaRPr lang="ko-KR" altLang="en-US" sz="3200" dirty="0"/>
          </a:p>
        </p:txBody>
      </p:sp>
      <p:sp>
        <p:nvSpPr>
          <p:cNvPr id="37" name="직사각형 36">
            <a:extLst>
              <a:ext uri="{FF2B5EF4-FFF2-40B4-BE49-F238E27FC236}">
                <a16:creationId xmlns:a16="http://schemas.microsoft.com/office/drawing/2014/main" id="{922B11F1-C8C1-4321-8E40-FAD3EC88CEF2}"/>
              </a:ext>
            </a:extLst>
          </p:cNvPr>
          <p:cNvSpPr/>
          <p:nvPr/>
        </p:nvSpPr>
        <p:spPr>
          <a:xfrm>
            <a:off x="1042915" y="41309006"/>
            <a:ext cx="30699176" cy="14099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fontAlgn="base"/>
            <a:r>
              <a:rPr lang="en-US" altLang="ko-KR" sz="3000" dirty="0">
                <a:solidFill>
                  <a:schemeClr val="tx1"/>
                </a:solidFill>
                <a:ea typeface="HY견고딕" panose="02030600000101010101" pitchFamily="18" charset="-127"/>
              </a:rPr>
              <a:t>This work was supported by the Korea Institute of Energy Technology Evaluation and Planning(KETEP) grant funded by the Korea government(MCEE)(RS-2022-KP002707, Jeonbuk Regional Energy Cluster Training of human resources).</a:t>
            </a:r>
          </a:p>
        </p:txBody>
      </p:sp>
      <p:cxnSp>
        <p:nvCxnSpPr>
          <p:cNvPr id="38" name="직선 연결선 37">
            <a:extLst>
              <a:ext uri="{FF2B5EF4-FFF2-40B4-BE49-F238E27FC236}">
                <a16:creationId xmlns:a16="http://schemas.microsoft.com/office/drawing/2014/main" id="{86C8017B-8925-4180-A343-AF83175AFF7C}"/>
              </a:ext>
            </a:extLst>
          </p:cNvPr>
          <p:cNvCxnSpPr>
            <a:cxnSpLocks/>
          </p:cNvCxnSpPr>
          <p:nvPr/>
        </p:nvCxnSpPr>
        <p:spPr>
          <a:xfrm>
            <a:off x="864793" y="41279388"/>
            <a:ext cx="30814742" cy="29619"/>
          </a:xfrm>
          <a:prstGeom prst="line">
            <a:avLst/>
          </a:prstGeom>
          <a:ln w="254000" cmpd="thickThin">
            <a:solidFill>
              <a:schemeClr val="accent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158" name="사각형: 둥근 모서리 157">
            <a:extLst>
              <a:ext uri="{FF2B5EF4-FFF2-40B4-BE49-F238E27FC236}">
                <a16:creationId xmlns:a16="http://schemas.microsoft.com/office/drawing/2014/main" id="{AD1DE384-CBD5-4234-AE58-86316B5C7856}"/>
              </a:ext>
            </a:extLst>
          </p:cNvPr>
          <p:cNvSpPr/>
          <p:nvPr/>
        </p:nvSpPr>
        <p:spPr>
          <a:xfrm>
            <a:off x="864793" y="36436125"/>
            <a:ext cx="15088802" cy="1125486"/>
          </a:xfrm>
          <a:prstGeom prst="roundRect">
            <a:avLst/>
          </a:prstGeom>
          <a:solidFill>
            <a:srgbClr val="204078"/>
          </a:solidFill>
        </p:spPr>
        <p:txBody>
          <a:bodyPr wrap="square" anchor="ctr" anchorCtr="1">
            <a:spAutoFit/>
          </a:bodyPr>
          <a:lstStyle/>
          <a:p>
            <a:pPr algn="ctr">
              <a:lnSpc>
                <a:spcPct val="150000"/>
              </a:lnSpc>
              <a:defRPr/>
            </a:pPr>
            <a:r>
              <a:rPr lang="en-US" sz="4600" b="1" dirty="0">
                <a:solidFill>
                  <a:prstClr val="white"/>
                </a:solidFill>
                <a:latin typeface="Century Gothic" panose="020B0502020202020204" pitchFamily="34" charset="0"/>
                <a:ea typeface="맑은 고딕" panose="020B0503020000020004" pitchFamily="50" charset="-127"/>
                <a:cs typeface="Times New Roman" panose="02020603050405020304" pitchFamily="18" charset="0"/>
              </a:rPr>
              <a:t>Proposed Approach</a:t>
            </a:r>
          </a:p>
        </p:txBody>
      </p:sp>
      <p:sp>
        <p:nvSpPr>
          <p:cNvPr id="159" name="TextBox 158">
            <a:extLst>
              <a:ext uri="{FF2B5EF4-FFF2-40B4-BE49-F238E27FC236}">
                <a16:creationId xmlns:a16="http://schemas.microsoft.com/office/drawing/2014/main" id="{0C07B360-E465-4B62-91AB-ECCE5EA9593F}"/>
              </a:ext>
            </a:extLst>
          </p:cNvPr>
          <p:cNvSpPr txBox="1"/>
          <p:nvPr/>
        </p:nvSpPr>
        <p:spPr>
          <a:xfrm>
            <a:off x="1042915" y="37910635"/>
            <a:ext cx="14599767" cy="2062103"/>
          </a:xfrm>
          <a:prstGeom prst="rect">
            <a:avLst/>
          </a:prstGeom>
          <a:noFill/>
        </p:spPr>
        <p:txBody>
          <a:bodyPr wrap="square" rtlCol="0">
            <a:spAutoFit/>
            <a:scene3d>
              <a:camera prst="orthographicFront"/>
              <a:lightRig rig="threePt" dir="t"/>
            </a:scene3d>
            <a:sp3d extrusionH="57150">
              <a:bevelT h="25400" prst="softRound"/>
            </a:sp3d>
          </a:bodyPr>
          <a:lstStyle/>
          <a:p>
            <a:pPr algn="just"/>
            <a:r>
              <a:rPr lang="en-US" sz="3200" dirty="0"/>
              <a:t>The dataset includes 752 images of electric short-circuit traces (PSCT and SSCT), resized to 224×224. </a:t>
            </a:r>
            <a:r>
              <a:rPr lang="en-US" sz="3200" dirty="0" err="1"/>
              <a:t>EfficientNet</a:t>
            </a:r>
            <a:r>
              <a:rPr lang="en-US" sz="3200" dirty="0"/>
              <a:t> achieved the highest accuracy (96.05%), while MobileNetV3 showed the lowest validation loss. Data augmentation (rotation, shift, shear, zoom, flip) improved generalization, and the Adam optimizer was used for efficient training.</a:t>
            </a:r>
            <a:r>
              <a:rPr lang="en-US" sz="3200" dirty="0">
                <a:latin typeface="Arial (Body)"/>
                <a:ea typeface="HY견고딕" panose="02030600000101010101" pitchFamily="18" charset="-127"/>
              </a:rPr>
              <a:t> </a:t>
            </a:r>
          </a:p>
        </p:txBody>
      </p:sp>
      <p:sp>
        <p:nvSpPr>
          <p:cNvPr id="30" name="직사각형 29">
            <a:extLst>
              <a:ext uri="{FF2B5EF4-FFF2-40B4-BE49-F238E27FC236}">
                <a16:creationId xmlns:a16="http://schemas.microsoft.com/office/drawing/2014/main" id="{A74A0F64-C0FE-4DCB-96FE-EC228A013745}"/>
              </a:ext>
            </a:extLst>
          </p:cNvPr>
          <p:cNvSpPr/>
          <p:nvPr/>
        </p:nvSpPr>
        <p:spPr>
          <a:xfrm>
            <a:off x="1181604" y="3798326"/>
            <a:ext cx="30497931" cy="2308324"/>
          </a:xfrm>
          <a:prstGeom prst="rect">
            <a:avLst/>
          </a:prstGeom>
          <a:solidFill>
            <a:srgbClr val="204078"/>
          </a:solidFill>
          <a:ln>
            <a:noFill/>
          </a:ln>
          <a:effectLst>
            <a:outerShdw blurRad="57785" dist="33020" dir="3180000" algn="ctr">
              <a:srgbClr val="000000">
                <a:alpha val="30000"/>
              </a:srgbClr>
            </a:outerShdw>
            <a:softEdge rad="31750"/>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algn="ctr" fontAlgn="base"/>
            <a:r>
              <a:rPr lang="en-US" sz="3600" dirty="0">
                <a:solidFill>
                  <a:schemeClr val="bg1"/>
                </a:solidFill>
              </a:rPr>
              <a:t>Nazari Mohammad Hadi</a:t>
            </a:r>
            <a:r>
              <a:rPr lang="ko-KR" altLang="en-US" sz="3600" baseline="30000" dirty="0">
                <a:solidFill>
                  <a:schemeClr val="bg1"/>
                </a:solidFill>
              </a:rPr>
              <a:t> * </a:t>
            </a:r>
            <a:r>
              <a:rPr lang="en-US" sz="3600" dirty="0">
                <a:solidFill>
                  <a:schemeClr val="bg1"/>
                </a:solidFill>
              </a:rPr>
              <a:t>, Junho Bang</a:t>
            </a:r>
            <a:r>
              <a:rPr lang="en-US" altLang="ko-KR" sz="3600" baseline="30000" dirty="0">
                <a:solidFill>
                  <a:schemeClr val="bg1"/>
                </a:solidFill>
              </a:rPr>
              <a:t>†</a:t>
            </a:r>
            <a:r>
              <a:rPr lang="en-US" sz="3600" dirty="0">
                <a:solidFill>
                  <a:schemeClr val="bg1"/>
                </a:solidFill>
              </a:rPr>
              <a:t>, </a:t>
            </a:r>
            <a:r>
              <a:rPr lang="en-US" sz="3600" dirty="0" err="1">
                <a:solidFill>
                  <a:schemeClr val="bg1"/>
                </a:solidFill>
              </a:rPr>
              <a:t>Deunchan</a:t>
            </a:r>
            <a:r>
              <a:rPr lang="en-US" sz="3600" dirty="0">
                <a:solidFill>
                  <a:schemeClr val="bg1"/>
                </a:solidFill>
              </a:rPr>
              <a:t> Kim</a:t>
            </a:r>
            <a:r>
              <a:rPr lang="en-US" altLang="ko-KR" sz="3600" baseline="30000" dirty="0">
                <a:solidFill>
                  <a:schemeClr val="bg1"/>
                </a:solidFill>
              </a:rPr>
              <a:t> * *</a:t>
            </a:r>
            <a:r>
              <a:rPr lang="en-US" sz="3600" dirty="0">
                <a:solidFill>
                  <a:schemeClr val="bg1"/>
                </a:solidFill>
              </a:rPr>
              <a:t>, </a:t>
            </a:r>
            <a:r>
              <a:rPr lang="en-US" sz="3600" dirty="0" err="1">
                <a:solidFill>
                  <a:schemeClr val="bg1"/>
                </a:solidFill>
              </a:rPr>
              <a:t>Soyeon</a:t>
            </a:r>
            <a:r>
              <a:rPr lang="en-US" sz="3600" dirty="0">
                <a:solidFill>
                  <a:schemeClr val="bg1"/>
                </a:solidFill>
              </a:rPr>
              <a:t> Park</a:t>
            </a:r>
            <a:r>
              <a:rPr lang="en-US" altLang="ko-KR" sz="3600" baseline="30000" dirty="0">
                <a:solidFill>
                  <a:schemeClr val="bg1"/>
                </a:solidFill>
              </a:rPr>
              <a:t> * *</a:t>
            </a:r>
            <a:r>
              <a:rPr lang="en-US" sz="3600" dirty="0">
                <a:solidFill>
                  <a:schemeClr val="bg1"/>
                </a:solidFill>
              </a:rPr>
              <a:t>, </a:t>
            </a:r>
            <a:r>
              <a:rPr lang="en-US" sz="3600" dirty="0" err="1">
                <a:solidFill>
                  <a:schemeClr val="bg1"/>
                </a:solidFill>
              </a:rPr>
              <a:t>Zhaojie</a:t>
            </a:r>
            <a:r>
              <a:rPr lang="en-US" altLang="ko-KR" sz="3600" baseline="30000" dirty="0">
                <a:solidFill>
                  <a:schemeClr val="bg1"/>
                </a:solidFill>
              </a:rPr>
              <a:t> * *</a:t>
            </a:r>
            <a:endParaRPr lang="en-US" sz="3600" dirty="0">
              <a:solidFill>
                <a:schemeClr val="bg1"/>
              </a:solidFill>
            </a:endParaRPr>
          </a:p>
          <a:p>
            <a:pPr algn="ctr" fontAlgn="base"/>
            <a:r>
              <a:rPr lang="en-US" sz="3600" dirty="0">
                <a:solidFill>
                  <a:schemeClr val="bg1"/>
                </a:solidFill>
              </a:rPr>
              <a:t>Jeonbuk National University,</a:t>
            </a:r>
            <a:r>
              <a:rPr lang="en-US" altLang="ko-KR" sz="3600" baseline="30000" dirty="0">
                <a:solidFill>
                  <a:schemeClr val="bg1"/>
                </a:solidFill>
              </a:rPr>
              <a:t> </a:t>
            </a:r>
            <a:r>
              <a:rPr lang="en-US" sz="3600" dirty="0">
                <a:solidFill>
                  <a:schemeClr val="bg1"/>
                </a:solidFill>
              </a:rPr>
              <a:t>Dept. of IT Applied System Engineering </a:t>
            </a:r>
            <a:r>
              <a:rPr lang="en-US" altLang="ko-KR" sz="3600" baseline="30000" dirty="0">
                <a:solidFill>
                  <a:schemeClr val="bg1"/>
                </a:solidFill>
              </a:rPr>
              <a:t>*</a:t>
            </a:r>
            <a:r>
              <a:rPr lang="en-US" sz="3600" dirty="0">
                <a:solidFill>
                  <a:schemeClr val="bg1"/>
                </a:solidFill>
              </a:rPr>
              <a:t>,</a:t>
            </a:r>
            <a:r>
              <a:rPr lang="en-US" altLang="ko-KR" sz="3600" baseline="30000" dirty="0">
                <a:solidFill>
                  <a:schemeClr val="bg1"/>
                </a:solidFill>
              </a:rPr>
              <a:t> †</a:t>
            </a:r>
            <a:r>
              <a:rPr lang="en-US" sz="3600" dirty="0">
                <a:solidFill>
                  <a:schemeClr val="bg1"/>
                </a:solidFill>
              </a:rPr>
              <a:t>,</a:t>
            </a:r>
            <a:r>
              <a:rPr lang="en-US" altLang="ko-KR" sz="3600" baseline="30000" dirty="0">
                <a:solidFill>
                  <a:schemeClr val="bg1"/>
                </a:solidFill>
              </a:rPr>
              <a:t> * *</a:t>
            </a:r>
          </a:p>
          <a:p>
            <a:pPr marL="0" marR="0" indent="0" algn="ctr" fontAlgn="base" latinLnBrk="0">
              <a:buNone/>
            </a:pPr>
            <a:r>
              <a:rPr lang="ko-KR" altLang="en-US" sz="3600" dirty="0">
                <a:solidFill>
                  <a:schemeClr val="bg1"/>
                </a:solidFill>
              </a:rPr>
              <a:t>하디</a:t>
            </a:r>
            <a:r>
              <a:rPr lang="ko-KR" altLang="en-US" sz="3600" baseline="30000" dirty="0">
                <a:solidFill>
                  <a:schemeClr val="bg1"/>
                </a:solidFill>
              </a:rPr>
              <a:t> *</a:t>
            </a:r>
            <a:r>
              <a:rPr lang="en-US" altLang="ko-KR" sz="3600" dirty="0">
                <a:solidFill>
                  <a:schemeClr val="bg1"/>
                </a:solidFill>
              </a:rPr>
              <a:t>, </a:t>
            </a:r>
            <a:r>
              <a:rPr lang="ko-KR" altLang="en-US" sz="3600" dirty="0">
                <a:solidFill>
                  <a:schemeClr val="bg1"/>
                </a:solidFill>
              </a:rPr>
              <a:t>방준호</a:t>
            </a:r>
            <a:r>
              <a:rPr lang="en-US" altLang="ko-KR" sz="3600" baseline="30000" dirty="0">
                <a:solidFill>
                  <a:schemeClr val="bg1"/>
                </a:solidFill>
              </a:rPr>
              <a:t>†</a:t>
            </a:r>
            <a:r>
              <a:rPr lang="en-US" altLang="ko-KR" sz="3600" dirty="0">
                <a:solidFill>
                  <a:schemeClr val="bg1"/>
                </a:solidFill>
              </a:rPr>
              <a:t>, </a:t>
            </a:r>
            <a:r>
              <a:rPr lang="ko-KR" altLang="en-US" sz="3600" dirty="0">
                <a:solidFill>
                  <a:schemeClr val="bg1"/>
                </a:solidFill>
              </a:rPr>
              <a:t>김든찬</a:t>
            </a:r>
            <a:r>
              <a:rPr lang="ko-KR" altLang="en-US" sz="3600" baseline="30000" dirty="0">
                <a:solidFill>
                  <a:schemeClr val="bg1"/>
                </a:solidFill>
              </a:rPr>
              <a:t> * *</a:t>
            </a:r>
            <a:r>
              <a:rPr lang="en-US" altLang="ko-KR" sz="3600" dirty="0">
                <a:solidFill>
                  <a:schemeClr val="bg1"/>
                </a:solidFill>
              </a:rPr>
              <a:t>, </a:t>
            </a:r>
            <a:r>
              <a:rPr lang="ko-KR" altLang="en-US" sz="3600" dirty="0">
                <a:solidFill>
                  <a:schemeClr val="bg1"/>
                </a:solidFill>
              </a:rPr>
              <a:t>박소연</a:t>
            </a:r>
            <a:r>
              <a:rPr lang="ko-KR" altLang="en-US" sz="3600" baseline="30000" dirty="0">
                <a:solidFill>
                  <a:schemeClr val="bg1"/>
                </a:solidFill>
              </a:rPr>
              <a:t> * *</a:t>
            </a:r>
            <a:r>
              <a:rPr lang="en-US" altLang="ko-KR" sz="3600" dirty="0">
                <a:solidFill>
                  <a:schemeClr val="bg1"/>
                </a:solidFill>
              </a:rPr>
              <a:t>, </a:t>
            </a:r>
            <a:r>
              <a:rPr lang="ko-KR" altLang="en-US" sz="3600" dirty="0">
                <a:solidFill>
                  <a:schemeClr val="bg1"/>
                </a:solidFill>
              </a:rPr>
              <a:t>조걸</a:t>
            </a:r>
            <a:r>
              <a:rPr lang="ko-KR" altLang="en-US" sz="3600" baseline="30000" dirty="0">
                <a:solidFill>
                  <a:schemeClr val="bg1"/>
                </a:solidFill>
              </a:rPr>
              <a:t> * *</a:t>
            </a:r>
            <a:r>
              <a:rPr lang="en-US" altLang="ko-KR" sz="3600" dirty="0">
                <a:solidFill>
                  <a:schemeClr val="bg1"/>
                </a:solidFill>
              </a:rPr>
              <a:t>, </a:t>
            </a:r>
            <a:endParaRPr lang="ko-KR" altLang="en-US" sz="3600" dirty="0">
              <a:solidFill>
                <a:schemeClr val="bg1"/>
              </a:solidFill>
            </a:endParaRPr>
          </a:p>
          <a:p>
            <a:pPr algn="ctr" fontAlgn="base"/>
            <a:r>
              <a:rPr lang="ko-KR" altLang="en-US" sz="3600" dirty="0">
                <a:solidFill>
                  <a:schemeClr val="bg1"/>
                </a:solidFill>
              </a:rPr>
              <a:t>전북대학교</a:t>
            </a:r>
            <a:r>
              <a:rPr lang="en-US" altLang="ko-KR" sz="3600" dirty="0">
                <a:solidFill>
                  <a:schemeClr val="bg1"/>
                </a:solidFill>
              </a:rPr>
              <a:t>,</a:t>
            </a:r>
            <a:r>
              <a:rPr lang="ko-KR" altLang="en-US" sz="3600" dirty="0">
                <a:solidFill>
                  <a:schemeClr val="bg1"/>
                </a:solidFill>
              </a:rPr>
              <a:t> </a:t>
            </a:r>
            <a:r>
              <a:rPr lang="en-US" altLang="ko-KR" sz="3600" dirty="0">
                <a:solidFill>
                  <a:schemeClr val="bg1"/>
                </a:solidFill>
              </a:rPr>
              <a:t>IT</a:t>
            </a:r>
            <a:r>
              <a:rPr lang="ko-KR" altLang="en-US" sz="3600" dirty="0">
                <a:solidFill>
                  <a:schemeClr val="bg1"/>
                </a:solidFill>
              </a:rPr>
              <a:t>응용시스템공학과</a:t>
            </a:r>
            <a:r>
              <a:rPr lang="en-US" altLang="ko-KR" sz="3600" baseline="30000" dirty="0">
                <a:solidFill>
                  <a:schemeClr val="bg1"/>
                </a:solidFill>
              </a:rPr>
              <a:t>*</a:t>
            </a:r>
            <a:r>
              <a:rPr lang="en-US" sz="3600" dirty="0">
                <a:solidFill>
                  <a:schemeClr val="bg1"/>
                </a:solidFill>
              </a:rPr>
              <a:t>,</a:t>
            </a:r>
            <a:r>
              <a:rPr lang="en-US" altLang="ko-KR" sz="3600" baseline="30000" dirty="0">
                <a:solidFill>
                  <a:schemeClr val="bg1"/>
                </a:solidFill>
              </a:rPr>
              <a:t> †</a:t>
            </a:r>
            <a:r>
              <a:rPr lang="en-US" sz="3600" dirty="0">
                <a:solidFill>
                  <a:schemeClr val="bg1"/>
                </a:solidFill>
              </a:rPr>
              <a:t>,</a:t>
            </a:r>
            <a:r>
              <a:rPr lang="en-US" altLang="ko-KR" sz="3600" baseline="30000" dirty="0">
                <a:solidFill>
                  <a:schemeClr val="bg1"/>
                </a:solidFill>
              </a:rPr>
              <a:t> * *</a:t>
            </a:r>
          </a:p>
        </p:txBody>
      </p:sp>
      <p:pic>
        <p:nvPicPr>
          <p:cNvPr id="3" name="그림 2">
            <a:extLst>
              <a:ext uri="{FF2B5EF4-FFF2-40B4-BE49-F238E27FC236}">
                <a16:creationId xmlns:a16="http://schemas.microsoft.com/office/drawing/2014/main" id="{D26571F0-6821-4E48-826F-FB68B80999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53645" y="2063429"/>
            <a:ext cx="3035146" cy="2734792"/>
          </a:xfrm>
          <a:prstGeom prst="rect">
            <a:avLst/>
          </a:prstGeom>
        </p:spPr>
      </p:pic>
      <p:sp>
        <p:nvSpPr>
          <p:cNvPr id="5" name="직사각형 4">
            <a:extLst>
              <a:ext uri="{FF2B5EF4-FFF2-40B4-BE49-F238E27FC236}">
                <a16:creationId xmlns:a16="http://schemas.microsoft.com/office/drawing/2014/main" id="{06C7519B-2CBB-4EB8-9879-86995908332D}"/>
              </a:ext>
            </a:extLst>
          </p:cNvPr>
          <p:cNvSpPr/>
          <p:nvPr/>
        </p:nvSpPr>
        <p:spPr>
          <a:xfrm>
            <a:off x="4461139" y="3497759"/>
            <a:ext cx="23192506" cy="547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A939D0D8-E358-40C8-B1B0-FF8C752B6FD2}"/>
              </a:ext>
            </a:extLst>
          </p:cNvPr>
          <p:cNvSpPr txBox="1"/>
          <p:nvPr/>
        </p:nvSpPr>
        <p:spPr>
          <a:xfrm>
            <a:off x="15736529" y="21149187"/>
            <a:ext cx="65" cy="276999"/>
          </a:xfrm>
          <a:prstGeom prst="rect">
            <a:avLst/>
          </a:prstGeom>
          <a:noFill/>
        </p:spPr>
        <p:txBody>
          <a:bodyPr wrap="none" lIns="0" tIns="0" rIns="0" bIns="0" rtlCol="0">
            <a:spAutoFit/>
          </a:bodyPr>
          <a:lstStyle/>
          <a:p>
            <a:endParaRPr lang="ko-KR" altLang="en-US" dirty="0"/>
          </a:p>
        </p:txBody>
      </p:sp>
      <p:sp>
        <p:nvSpPr>
          <p:cNvPr id="26" name="사각형: 둥근 모서리 32">
            <a:extLst>
              <a:ext uri="{FF2B5EF4-FFF2-40B4-BE49-F238E27FC236}">
                <a16:creationId xmlns:a16="http://schemas.microsoft.com/office/drawing/2014/main" id="{E1FC4AA6-E356-8BF9-1277-8F5A3D9626FB}"/>
              </a:ext>
            </a:extLst>
          </p:cNvPr>
          <p:cNvSpPr/>
          <p:nvPr/>
        </p:nvSpPr>
        <p:spPr>
          <a:xfrm>
            <a:off x="16468460" y="33571935"/>
            <a:ext cx="15150788" cy="1125486"/>
          </a:xfrm>
          <a:prstGeom prst="roundRect">
            <a:avLst/>
          </a:prstGeom>
          <a:solidFill>
            <a:srgbClr val="204078"/>
          </a:solidFill>
        </p:spPr>
        <p:txBody>
          <a:bodyPr wrap="square" anchor="ctr" anchorCtr="1">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altLang="ko-KR" sz="4600" b="1" dirty="0">
                <a:solidFill>
                  <a:prstClr val="white"/>
                </a:solidFill>
                <a:latin typeface="Century Gothic" panose="020B0502020202020204" pitchFamily="34" charset="0"/>
                <a:ea typeface="맑은 고딕" panose="020B0503020000020004" pitchFamily="50" charset="-127"/>
                <a:cs typeface="Times New Roman" panose="02020603050405020304" pitchFamily="18" charset="0"/>
              </a:rPr>
              <a:t>Conclusions</a:t>
            </a:r>
            <a:endParaRPr lang="ko-KR" altLang="ko-KR" sz="4600" b="1" dirty="0">
              <a:solidFill>
                <a:prstClr val="white"/>
              </a:solidFill>
              <a:latin typeface="Century Gothic" panose="020B0502020202020204" pitchFamily="34" charset="0"/>
              <a:ea typeface="맑은 고딕" panose="020B0503020000020004" pitchFamily="50" charset="-127"/>
              <a:cs typeface="Times New Roman" panose="02020603050405020304" pitchFamily="18" charset="0"/>
            </a:endParaRPr>
          </a:p>
        </p:txBody>
      </p:sp>
      <p:sp>
        <p:nvSpPr>
          <p:cNvPr id="63" name="TextBox 62">
            <a:extLst>
              <a:ext uri="{FF2B5EF4-FFF2-40B4-BE49-F238E27FC236}">
                <a16:creationId xmlns:a16="http://schemas.microsoft.com/office/drawing/2014/main" id="{9FF2E648-FCBD-6F95-FB28-7E7730769D01}"/>
              </a:ext>
            </a:extLst>
          </p:cNvPr>
          <p:cNvSpPr txBox="1"/>
          <p:nvPr/>
        </p:nvSpPr>
        <p:spPr>
          <a:xfrm>
            <a:off x="16884723" y="29029402"/>
            <a:ext cx="15088798" cy="699230"/>
          </a:xfrm>
          <a:prstGeom prst="rect">
            <a:avLst/>
          </a:prstGeom>
          <a:noFill/>
        </p:spPr>
        <p:txBody>
          <a:bodyPr wrap="square" rtlCol="0">
            <a:spAutoFit/>
            <a:scene3d>
              <a:camera prst="orthographicFront"/>
              <a:lightRig rig="threePt" dir="t"/>
            </a:scene3d>
            <a:sp3d extrusionH="57150">
              <a:bevelT h="25400" prst="softRound"/>
            </a:sp3d>
          </a:bodyPr>
          <a:lstStyle/>
          <a:p>
            <a:pPr marL="457200" indent="-457200" algn="just">
              <a:lnSpc>
                <a:spcPct val="150000"/>
              </a:lnSpc>
              <a:buClr>
                <a:srgbClr val="204078"/>
              </a:buClr>
              <a:buFont typeface="Wingdings" panose="05000000000000000000" pitchFamily="2" charset="2"/>
              <a:buChar char="u"/>
            </a:pPr>
            <a:r>
              <a:rPr lang="en-US" sz="3000" dirty="0">
                <a:latin typeface="Arial (Body)"/>
                <a:ea typeface="HY견고딕" panose="02030600000101010101" pitchFamily="18" charset="-127"/>
              </a:rPr>
              <a:t>Model performance</a:t>
            </a:r>
          </a:p>
        </p:txBody>
      </p:sp>
      <p:pic>
        <p:nvPicPr>
          <p:cNvPr id="13" name="Picture 12">
            <a:extLst>
              <a:ext uri="{FF2B5EF4-FFF2-40B4-BE49-F238E27FC236}">
                <a16:creationId xmlns:a16="http://schemas.microsoft.com/office/drawing/2014/main" id="{EE73D4B9-7F75-C4CC-D744-F3588A2D4A42}"/>
              </a:ext>
            </a:extLst>
          </p:cNvPr>
          <p:cNvPicPr>
            <a:picLocks noChangeAspect="1"/>
          </p:cNvPicPr>
          <p:nvPr/>
        </p:nvPicPr>
        <p:blipFill>
          <a:blip r:embed="rId4"/>
          <a:stretch>
            <a:fillRect/>
          </a:stretch>
        </p:blipFill>
        <p:spPr>
          <a:xfrm>
            <a:off x="1483878" y="21948875"/>
            <a:ext cx="14715766" cy="3829977"/>
          </a:xfrm>
          <a:prstGeom prst="rect">
            <a:avLst/>
          </a:prstGeom>
          <a:noFill/>
          <a:ln>
            <a:noFill/>
          </a:ln>
          <a:effectLst/>
        </p:spPr>
      </p:pic>
      <p:sp>
        <p:nvSpPr>
          <p:cNvPr id="14" name="TextBox 13">
            <a:extLst>
              <a:ext uri="{FF2B5EF4-FFF2-40B4-BE49-F238E27FC236}">
                <a16:creationId xmlns:a16="http://schemas.microsoft.com/office/drawing/2014/main" id="{D19E2AF4-4EBB-B0DD-469D-156DC822CE15}"/>
              </a:ext>
            </a:extLst>
          </p:cNvPr>
          <p:cNvSpPr txBox="1"/>
          <p:nvPr/>
        </p:nvSpPr>
        <p:spPr>
          <a:xfrm>
            <a:off x="2883830" y="25797961"/>
            <a:ext cx="10917936" cy="584775"/>
          </a:xfrm>
          <a:prstGeom prst="rect">
            <a:avLst/>
          </a:prstGeom>
          <a:noFill/>
        </p:spPr>
        <p:txBody>
          <a:bodyPr wrap="square" rtlCol="0">
            <a:spAutoFit/>
          </a:bodyPr>
          <a:lstStyle>
            <a:defPPr>
              <a:defRPr lang="en-US"/>
            </a:defPPr>
            <a:lvl1pPr fontAlgn="base" latinLnBrk="1">
              <a:defRPr/>
            </a:lvl1pPr>
          </a:lstStyle>
          <a:p>
            <a:r>
              <a:rPr lang="en-US" sz="3200" dirty="0"/>
              <a:t>&lt;Figure 1&gt; MobileNetV2 network architecture </a:t>
            </a:r>
          </a:p>
        </p:txBody>
      </p:sp>
      <p:pic>
        <p:nvPicPr>
          <p:cNvPr id="22" name="Picture 21">
            <a:extLst>
              <a:ext uri="{FF2B5EF4-FFF2-40B4-BE49-F238E27FC236}">
                <a16:creationId xmlns:a16="http://schemas.microsoft.com/office/drawing/2014/main" id="{41D865A4-F6C3-7B83-8560-4D60C9723F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6398" y="26521134"/>
            <a:ext cx="14643246" cy="3512233"/>
          </a:xfrm>
          <a:prstGeom prst="rect">
            <a:avLst/>
          </a:prstGeom>
        </p:spPr>
      </p:pic>
      <p:sp>
        <p:nvSpPr>
          <p:cNvPr id="27" name="TextBox 26">
            <a:extLst>
              <a:ext uri="{FF2B5EF4-FFF2-40B4-BE49-F238E27FC236}">
                <a16:creationId xmlns:a16="http://schemas.microsoft.com/office/drawing/2014/main" id="{1A895DA7-9C89-7DFF-69D8-350BB24E5015}"/>
              </a:ext>
            </a:extLst>
          </p:cNvPr>
          <p:cNvSpPr txBox="1"/>
          <p:nvPr/>
        </p:nvSpPr>
        <p:spPr>
          <a:xfrm>
            <a:off x="2407580" y="30211561"/>
            <a:ext cx="10917936" cy="584775"/>
          </a:xfrm>
          <a:prstGeom prst="rect">
            <a:avLst/>
          </a:prstGeom>
          <a:noFill/>
        </p:spPr>
        <p:txBody>
          <a:bodyPr wrap="square" rtlCol="0">
            <a:spAutoFit/>
          </a:bodyPr>
          <a:lstStyle>
            <a:defPPr>
              <a:defRPr lang="en-US"/>
            </a:defPPr>
            <a:lvl1pPr fontAlgn="base" latinLnBrk="1">
              <a:defRPr/>
            </a:lvl1pPr>
          </a:lstStyle>
          <a:p>
            <a:r>
              <a:rPr lang="en-US" sz="3200" dirty="0"/>
              <a:t>&lt;Figure 2&gt; Block structure of MobileNetV3</a:t>
            </a:r>
          </a:p>
        </p:txBody>
      </p:sp>
      <p:pic>
        <p:nvPicPr>
          <p:cNvPr id="28" name="Picture 27">
            <a:extLst>
              <a:ext uri="{FF2B5EF4-FFF2-40B4-BE49-F238E27FC236}">
                <a16:creationId xmlns:a16="http://schemas.microsoft.com/office/drawing/2014/main" id="{C5E79EB0-4A86-7DD4-5615-09DA31296356}"/>
              </a:ext>
            </a:extLst>
          </p:cNvPr>
          <p:cNvPicPr>
            <a:picLocks noChangeAspect="1"/>
          </p:cNvPicPr>
          <p:nvPr/>
        </p:nvPicPr>
        <p:blipFill>
          <a:blip r:embed="rId6"/>
          <a:stretch>
            <a:fillRect/>
          </a:stretch>
        </p:blipFill>
        <p:spPr>
          <a:xfrm>
            <a:off x="1669416" y="30796097"/>
            <a:ext cx="14444772" cy="4353098"/>
          </a:xfrm>
          <a:prstGeom prst="rect">
            <a:avLst/>
          </a:prstGeom>
          <a:noFill/>
          <a:ln>
            <a:noFill/>
          </a:ln>
          <a:effectLst/>
        </p:spPr>
      </p:pic>
      <p:sp>
        <p:nvSpPr>
          <p:cNvPr id="29" name="TextBox 28">
            <a:extLst>
              <a:ext uri="{FF2B5EF4-FFF2-40B4-BE49-F238E27FC236}">
                <a16:creationId xmlns:a16="http://schemas.microsoft.com/office/drawing/2014/main" id="{BC72A843-6D64-51B5-8D2F-0F761D7186C2}"/>
              </a:ext>
            </a:extLst>
          </p:cNvPr>
          <p:cNvSpPr txBox="1"/>
          <p:nvPr/>
        </p:nvSpPr>
        <p:spPr>
          <a:xfrm>
            <a:off x="2259966" y="35260775"/>
            <a:ext cx="10917936" cy="584775"/>
          </a:xfrm>
          <a:prstGeom prst="rect">
            <a:avLst/>
          </a:prstGeom>
          <a:noFill/>
        </p:spPr>
        <p:txBody>
          <a:bodyPr wrap="square" rtlCol="0">
            <a:spAutoFit/>
          </a:bodyPr>
          <a:lstStyle>
            <a:defPPr>
              <a:defRPr lang="en-US"/>
            </a:defPPr>
            <a:lvl1pPr fontAlgn="base" latinLnBrk="1">
              <a:defRPr/>
            </a:lvl1pPr>
          </a:lstStyle>
          <a:p>
            <a:r>
              <a:rPr lang="en-US" sz="3200" dirty="0"/>
              <a:t>&lt;Figure 3&gt; Architecture of </a:t>
            </a:r>
            <a:r>
              <a:rPr lang="en-US" sz="3200" dirty="0" err="1"/>
              <a:t>EfficientNet</a:t>
            </a:r>
            <a:endParaRPr lang="en-US" sz="3200" dirty="0"/>
          </a:p>
        </p:txBody>
      </p:sp>
      <p:pic>
        <p:nvPicPr>
          <p:cNvPr id="35" name="Picture 34">
            <a:extLst>
              <a:ext uri="{FF2B5EF4-FFF2-40B4-BE49-F238E27FC236}">
                <a16:creationId xmlns:a16="http://schemas.microsoft.com/office/drawing/2014/main" id="{C8B3C845-40C4-7BC9-5916-A77C398A23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114573" y="11704381"/>
            <a:ext cx="14199615" cy="16470569"/>
          </a:xfrm>
          <a:prstGeom prst="rect">
            <a:avLst/>
          </a:prstGeom>
        </p:spPr>
      </p:pic>
      <p:graphicFrame>
        <p:nvGraphicFramePr>
          <p:cNvPr id="45" name="Table 44">
            <a:extLst>
              <a:ext uri="{FF2B5EF4-FFF2-40B4-BE49-F238E27FC236}">
                <a16:creationId xmlns:a16="http://schemas.microsoft.com/office/drawing/2014/main" id="{369C1519-FE5A-65E0-5DC6-9557180709D4}"/>
              </a:ext>
            </a:extLst>
          </p:cNvPr>
          <p:cNvGraphicFramePr>
            <a:graphicFrameLocks noGrp="1"/>
          </p:cNvGraphicFramePr>
          <p:nvPr>
            <p:extLst>
              <p:ext uri="{D42A27DB-BD31-4B8C-83A1-F6EECF244321}">
                <p14:modId xmlns:p14="http://schemas.microsoft.com/office/powerpoint/2010/main" val="1587837263"/>
              </p:ext>
            </p:extLst>
          </p:nvPr>
        </p:nvGraphicFramePr>
        <p:xfrm>
          <a:off x="17036289" y="29863255"/>
          <a:ext cx="14460536" cy="2958400"/>
        </p:xfrm>
        <a:graphic>
          <a:graphicData uri="http://schemas.openxmlformats.org/drawingml/2006/table">
            <a:tbl>
              <a:tblPr>
                <a:tableStyleId>{8799B23B-EC83-4686-B30A-512413B5E67A}</a:tableStyleId>
              </a:tblPr>
              <a:tblGrid>
                <a:gridCol w="3615134">
                  <a:extLst>
                    <a:ext uri="{9D8B030D-6E8A-4147-A177-3AD203B41FA5}">
                      <a16:colId xmlns:a16="http://schemas.microsoft.com/office/drawing/2014/main" val="683231533"/>
                    </a:ext>
                  </a:extLst>
                </a:gridCol>
                <a:gridCol w="3615134">
                  <a:extLst>
                    <a:ext uri="{9D8B030D-6E8A-4147-A177-3AD203B41FA5}">
                      <a16:colId xmlns:a16="http://schemas.microsoft.com/office/drawing/2014/main" val="3573126771"/>
                    </a:ext>
                  </a:extLst>
                </a:gridCol>
                <a:gridCol w="3615134">
                  <a:extLst>
                    <a:ext uri="{9D8B030D-6E8A-4147-A177-3AD203B41FA5}">
                      <a16:colId xmlns:a16="http://schemas.microsoft.com/office/drawing/2014/main" val="2418856288"/>
                    </a:ext>
                  </a:extLst>
                </a:gridCol>
                <a:gridCol w="3615134">
                  <a:extLst>
                    <a:ext uri="{9D8B030D-6E8A-4147-A177-3AD203B41FA5}">
                      <a16:colId xmlns:a16="http://schemas.microsoft.com/office/drawing/2014/main" val="3377802051"/>
                    </a:ext>
                  </a:extLst>
                </a:gridCol>
              </a:tblGrid>
              <a:tr h="739600">
                <a:tc>
                  <a:txBody>
                    <a:bodyPr/>
                    <a:lstStyle/>
                    <a:p>
                      <a:pPr>
                        <a:buNone/>
                      </a:pPr>
                      <a:r>
                        <a:rPr lang="en-US" sz="3200" kern="1200" dirty="0">
                          <a:solidFill>
                            <a:schemeClr val="tx1"/>
                          </a:solidFill>
                        </a:rPr>
                        <a:t>Model</a:t>
                      </a:r>
                      <a:endParaRPr lang="en-US" sz="3200" kern="1200" dirty="0">
                        <a:solidFill>
                          <a:schemeClr val="tx1"/>
                        </a:solidFill>
                        <a:latin typeface="+mn-lt"/>
                        <a:ea typeface="+mn-ea"/>
                        <a:cs typeface="+mn-cs"/>
                      </a:endParaRPr>
                    </a:p>
                  </a:txBody>
                  <a:tcPr anchor="ctr"/>
                </a:tc>
                <a:tc>
                  <a:txBody>
                    <a:bodyPr/>
                    <a:lstStyle/>
                    <a:p>
                      <a:pPr>
                        <a:buNone/>
                      </a:pPr>
                      <a:r>
                        <a:rPr lang="en-US" sz="3200" kern="1200" dirty="0">
                          <a:solidFill>
                            <a:schemeClr val="tx1"/>
                          </a:solidFill>
                        </a:rPr>
                        <a:t>Training Accuracy</a:t>
                      </a:r>
                      <a:endParaRPr lang="en-US" sz="3200" kern="1200" dirty="0">
                        <a:solidFill>
                          <a:schemeClr val="tx1"/>
                        </a:solidFill>
                        <a:latin typeface="+mn-lt"/>
                        <a:ea typeface="+mn-ea"/>
                        <a:cs typeface="+mn-cs"/>
                      </a:endParaRPr>
                    </a:p>
                  </a:txBody>
                  <a:tcPr anchor="ctr"/>
                </a:tc>
                <a:tc>
                  <a:txBody>
                    <a:bodyPr/>
                    <a:lstStyle/>
                    <a:p>
                      <a:pPr>
                        <a:buNone/>
                      </a:pPr>
                      <a:r>
                        <a:rPr lang="en-US" sz="3200" kern="1200">
                          <a:solidFill>
                            <a:schemeClr val="tx1"/>
                          </a:solidFill>
                        </a:rPr>
                        <a:t>Validation Accuracy</a:t>
                      </a:r>
                      <a:endParaRPr lang="en-US" sz="3200" kern="1200">
                        <a:solidFill>
                          <a:schemeClr val="tx1"/>
                        </a:solidFill>
                        <a:latin typeface="+mn-lt"/>
                        <a:ea typeface="+mn-ea"/>
                        <a:cs typeface="+mn-cs"/>
                      </a:endParaRPr>
                    </a:p>
                  </a:txBody>
                  <a:tcPr anchor="ctr"/>
                </a:tc>
                <a:tc>
                  <a:txBody>
                    <a:bodyPr/>
                    <a:lstStyle/>
                    <a:p>
                      <a:pPr>
                        <a:buNone/>
                      </a:pPr>
                      <a:r>
                        <a:rPr lang="en-US" sz="3200" kern="1200">
                          <a:solidFill>
                            <a:schemeClr val="tx1"/>
                          </a:solidFill>
                        </a:rPr>
                        <a:t>Validation Loss</a:t>
                      </a:r>
                      <a:endParaRPr lang="en-US" sz="3200" kern="1200">
                        <a:solidFill>
                          <a:schemeClr val="tx1"/>
                        </a:solidFill>
                        <a:latin typeface="+mn-lt"/>
                        <a:ea typeface="+mn-ea"/>
                        <a:cs typeface="+mn-cs"/>
                      </a:endParaRPr>
                    </a:p>
                  </a:txBody>
                  <a:tcPr anchor="ctr"/>
                </a:tc>
                <a:extLst>
                  <a:ext uri="{0D108BD9-81ED-4DB2-BD59-A6C34878D82A}">
                    <a16:rowId xmlns:a16="http://schemas.microsoft.com/office/drawing/2014/main" val="2406905793"/>
                  </a:ext>
                </a:extLst>
              </a:tr>
              <a:tr h="739600">
                <a:tc>
                  <a:txBody>
                    <a:bodyPr/>
                    <a:lstStyle/>
                    <a:p>
                      <a:pPr>
                        <a:buNone/>
                      </a:pPr>
                      <a:r>
                        <a:rPr lang="en-US" sz="3200" kern="1200">
                          <a:solidFill>
                            <a:schemeClr val="tx1"/>
                          </a:solidFill>
                        </a:rPr>
                        <a:t>MobileNetV2</a:t>
                      </a:r>
                      <a:endParaRPr lang="en-US" sz="3200" kern="1200">
                        <a:solidFill>
                          <a:schemeClr val="tx1"/>
                        </a:solidFill>
                        <a:latin typeface="+mn-lt"/>
                        <a:ea typeface="+mn-ea"/>
                        <a:cs typeface="+mn-cs"/>
                      </a:endParaRPr>
                    </a:p>
                  </a:txBody>
                  <a:tcPr anchor="ctr"/>
                </a:tc>
                <a:tc>
                  <a:txBody>
                    <a:bodyPr/>
                    <a:lstStyle/>
                    <a:p>
                      <a:pPr>
                        <a:buNone/>
                      </a:pPr>
                      <a:r>
                        <a:rPr lang="en-US" sz="3200" kern="1200" dirty="0">
                          <a:solidFill>
                            <a:schemeClr val="tx1"/>
                          </a:solidFill>
                        </a:rPr>
                        <a:t>91.39%</a:t>
                      </a:r>
                      <a:endParaRPr lang="en-US" sz="3200" kern="1200" dirty="0">
                        <a:solidFill>
                          <a:schemeClr val="tx1"/>
                        </a:solidFill>
                        <a:latin typeface="+mn-lt"/>
                        <a:ea typeface="+mn-ea"/>
                        <a:cs typeface="+mn-cs"/>
                      </a:endParaRPr>
                    </a:p>
                  </a:txBody>
                  <a:tcPr anchor="ctr"/>
                </a:tc>
                <a:tc>
                  <a:txBody>
                    <a:bodyPr/>
                    <a:lstStyle/>
                    <a:p>
                      <a:pPr>
                        <a:buNone/>
                      </a:pPr>
                      <a:r>
                        <a:rPr lang="en-US" sz="3200" kern="1200">
                          <a:solidFill>
                            <a:schemeClr val="tx1"/>
                          </a:solidFill>
                        </a:rPr>
                        <a:t>92.76%</a:t>
                      </a:r>
                      <a:endParaRPr lang="en-US" sz="3200" kern="1200">
                        <a:solidFill>
                          <a:schemeClr val="tx1"/>
                        </a:solidFill>
                        <a:latin typeface="+mn-lt"/>
                        <a:ea typeface="+mn-ea"/>
                        <a:cs typeface="+mn-cs"/>
                      </a:endParaRPr>
                    </a:p>
                  </a:txBody>
                  <a:tcPr anchor="ctr"/>
                </a:tc>
                <a:tc>
                  <a:txBody>
                    <a:bodyPr/>
                    <a:lstStyle/>
                    <a:p>
                      <a:pPr>
                        <a:buNone/>
                      </a:pPr>
                      <a:r>
                        <a:rPr lang="en-US" sz="3200" kern="1200" dirty="0">
                          <a:solidFill>
                            <a:schemeClr val="tx1"/>
                          </a:solidFill>
                        </a:rPr>
                        <a:t>0.1523</a:t>
                      </a:r>
                      <a:endParaRPr lang="en-US" sz="3200" kern="1200" dirty="0">
                        <a:solidFill>
                          <a:schemeClr val="tx1"/>
                        </a:solidFill>
                        <a:latin typeface="+mn-lt"/>
                        <a:ea typeface="+mn-ea"/>
                        <a:cs typeface="+mn-cs"/>
                      </a:endParaRPr>
                    </a:p>
                  </a:txBody>
                  <a:tcPr anchor="ctr"/>
                </a:tc>
                <a:extLst>
                  <a:ext uri="{0D108BD9-81ED-4DB2-BD59-A6C34878D82A}">
                    <a16:rowId xmlns:a16="http://schemas.microsoft.com/office/drawing/2014/main" val="4225444961"/>
                  </a:ext>
                </a:extLst>
              </a:tr>
              <a:tr h="739600">
                <a:tc>
                  <a:txBody>
                    <a:bodyPr/>
                    <a:lstStyle/>
                    <a:p>
                      <a:pPr>
                        <a:buNone/>
                      </a:pPr>
                      <a:r>
                        <a:rPr lang="en-US" sz="3200" kern="1200">
                          <a:solidFill>
                            <a:schemeClr val="tx1"/>
                          </a:solidFill>
                        </a:rPr>
                        <a:t>MobileNetV3</a:t>
                      </a:r>
                      <a:endParaRPr lang="en-US" sz="3200" kern="1200">
                        <a:solidFill>
                          <a:schemeClr val="tx1"/>
                        </a:solidFill>
                        <a:latin typeface="+mn-lt"/>
                        <a:ea typeface="+mn-ea"/>
                        <a:cs typeface="+mn-cs"/>
                      </a:endParaRPr>
                    </a:p>
                  </a:txBody>
                  <a:tcPr anchor="ctr"/>
                </a:tc>
                <a:tc>
                  <a:txBody>
                    <a:bodyPr/>
                    <a:lstStyle/>
                    <a:p>
                      <a:pPr>
                        <a:buNone/>
                      </a:pPr>
                      <a:r>
                        <a:rPr lang="en-US" sz="3200" kern="1200">
                          <a:solidFill>
                            <a:schemeClr val="tx1"/>
                          </a:solidFill>
                        </a:rPr>
                        <a:t>93.59%</a:t>
                      </a:r>
                      <a:endParaRPr lang="en-US" sz="3200" kern="1200">
                        <a:solidFill>
                          <a:schemeClr val="tx1"/>
                        </a:solidFill>
                        <a:latin typeface="+mn-lt"/>
                        <a:ea typeface="+mn-ea"/>
                        <a:cs typeface="+mn-cs"/>
                      </a:endParaRPr>
                    </a:p>
                  </a:txBody>
                  <a:tcPr anchor="ctr"/>
                </a:tc>
                <a:tc>
                  <a:txBody>
                    <a:bodyPr/>
                    <a:lstStyle/>
                    <a:p>
                      <a:pPr>
                        <a:buNone/>
                      </a:pPr>
                      <a:r>
                        <a:rPr lang="en-US" sz="3200" kern="1200">
                          <a:solidFill>
                            <a:schemeClr val="tx1"/>
                          </a:solidFill>
                        </a:rPr>
                        <a:t>95.39%</a:t>
                      </a:r>
                      <a:endParaRPr lang="en-US" sz="3200" kern="1200">
                        <a:solidFill>
                          <a:schemeClr val="tx1"/>
                        </a:solidFill>
                        <a:latin typeface="+mn-lt"/>
                        <a:ea typeface="+mn-ea"/>
                        <a:cs typeface="+mn-cs"/>
                      </a:endParaRPr>
                    </a:p>
                  </a:txBody>
                  <a:tcPr anchor="ctr"/>
                </a:tc>
                <a:tc>
                  <a:txBody>
                    <a:bodyPr/>
                    <a:lstStyle/>
                    <a:p>
                      <a:pPr>
                        <a:buNone/>
                      </a:pPr>
                      <a:r>
                        <a:rPr lang="en-US" sz="3200" kern="1200">
                          <a:solidFill>
                            <a:schemeClr val="tx1"/>
                          </a:solidFill>
                        </a:rPr>
                        <a:t>0.1044</a:t>
                      </a:r>
                      <a:endParaRPr lang="en-US" sz="3200" kern="1200">
                        <a:solidFill>
                          <a:schemeClr val="tx1"/>
                        </a:solidFill>
                        <a:latin typeface="+mn-lt"/>
                        <a:ea typeface="+mn-ea"/>
                        <a:cs typeface="+mn-cs"/>
                      </a:endParaRPr>
                    </a:p>
                  </a:txBody>
                  <a:tcPr anchor="ctr"/>
                </a:tc>
                <a:extLst>
                  <a:ext uri="{0D108BD9-81ED-4DB2-BD59-A6C34878D82A}">
                    <a16:rowId xmlns:a16="http://schemas.microsoft.com/office/drawing/2014/main" val="473269695"/>
                  </a:ext>
                </a:extLst>
              </a:tr>
              <a:tr h="739600">
                <a:tc>
                  <a:txBody>
                    <a:bodyPr/>
                    <a:lstStyle/>
                    <a:p>
                      <a:pPr>
                        <a:buNone/>
                      </a:pPr>
                      <a:r>
                        <a:rPr lang="en-US" sz="3200" kern="1200">
                          <a:solidFill>
                            <a:schemeClr val="tx1"/>
                          </a:solidFill>
                        </a:rPr>
                        <a:t>EfficientNet</a:t>
                      </a:r>
                      <a:endParaRPr lang="en-US" sz="3200" kern="1200">
                        <a:solidFill>
                          <a:schemeClr val="tx1"/>
                        </a:solidFill>
                        <a:latin typeface="+mn-lt"/>
                        <a:ea typeface="+mn-ea"/>
                        <a:cs typeface="+mn-cs"/>
                      </a:endParaRPr>
                    </a:p>
                  </a:txBody>
                  <a:tcPr anchor="ctr"/>
                </a:tc>
                <a:tc>
                  <a:txBody>
                    <a:bodyPr/>
                    <a:lstStyle/>
                    <a:p>
                      <a:pPr>
                        <a:buNone/>
                      </a:pPr>
                      <a:r>
                        <a:rPr lang="en-US" sz="3200" kern="1200">
                          <a:solidFill>
                            <a:schemeClr val="tx1"/>
                          </a:solidFill>
                        </a:rPr>
                        <a:t>91.65%</a:t>
                      </a:r>
                      <a:endParaRPr lang="en-US" sz="3200" kern="1200">
                        <a:solidFill>
                          <a:schemeClr val="tx1"/>
                        </a:solidFill>
                        <a:latin typeface="+mn-lt"/>
                        <a:ea typeface="+mn-ea"/>
                        <a:cs typeface="+mn-cs"/>
                      </a:endParaRPr>
                    </a:p>
                  </a:txBody>
                  <a:tcPr anchor="ctr"/>
                </a:tc>
                <a:tc>
                  <a:txBody>
                    <a:bodyPr/>
                    <a:lstStyle/>
                    <a:p>
                      <a:pPr>
                        <a:buNone/>
                      </a:pPr>
                      <a:r>
                        <a:rPr lang="en-US" sz="3200" kern="1200">
                          <a:solidFill>
                            <a:schemeClr val="tx1"/>
                          </a:solidFill>
                        </a:rPr>
                        <a:t>96.05%</a:t>
                      </a:r>
                      <a:endParaRPr lang="en-US" sz="3200" kern="1200">
                        <a:solidFill>
                          <a:schemeClr val="tx1"/>
                        </a:solidFill>
                        <a:latin typeface="+mn-lt"/>
                        <a:ea typeface="+mn-ea"/>
                        <a:cs typeface="+mn-cs"/>
                      </a:endParaRPr>
                    </a:p>
                  </a:txBody>
                  <a:tcPr anchor="ctr"/>
                </a:tc>
                <a:tc>
                  <a:txBody>
                    <a:bodyPr/>
                    <a:lstStyle/>
                    <a:p>
                      <a:pPr>
                        <a:buNone/>
                      </a:pPr>
                      <a:r>
                        <a:rPr lang="en-US" sz="3200" kern="1200" dirty="0">
                          <a:solidFill>
                            <a:schemeClr val="tx1"/>
                          </a:solidFill>
                        </a:rPr>
                        <a:t>0.1739</a:t>
                      </a:r>
                      <a:endParaRPr lang="en-US" sz="3200" kern="1200" dirty="0">
                        <a:solidFill>
                          <a:schemeClr val="tx1"/>
                        </a:solidFill>
                        <a:latin typeface="+mn-lt"/>
                        <a:ea typeface="+mn-ea"/>
                        <a:cs typeface="+mn-cs"/>
                      </a:endParaRPr>
                    </a:p>
                  </a:txBody>
                  <a:tcPr anchor="ctr"/>
                </a:tc>
                <a:extLst>
                  <a:ext uri="{0D108BD9-81ED-4DB2-BD59-A6C34878D82A}">
                    <a16:rowId xmlns:a16="http://schemas.microsoft.com/office/drawing/2014/main" val="1868163966"/>
                  </a:ext>
                </a:extLst>
              </a:tr>
            </a:tbl>
          </a:graphicData>
        </a:graphic>
      </p:graphicFrame>
      <p:sp>
        <p:nvSpPr>
          <p:cNvPr id="46" name="TextBox 45">
            <a:extLst>
              <a:ext uri="{FF2B5EF4-FFF2-40B4-BE49-F238E27FC236}">
                <a16:creationId xmlns:a16="http://schemas.microsoft.com/office/drawing/2014/main" id="{BA366F75-81FC-097F-8A05-E8748E6B59D7}"/>
              </a:ext>
            </a:extLst>
          </p:cNvPr>
          <p:cNvSpPr txBox="1"/>
          <p:nvPr/>
        </p:nvSpPr>
        <p:spPr>
          <a:xfrm>
            <a:off x="17865853" y="28235043"/>
            <a:ext cx="14199615" cy="584775"/>
          </a:xfrm>
          <a:prstGeom prst="rect">
            <a:avLst/>
          </a:prstGeom>
          <a:noFill/>
        </p:spPr>
        <p:txBody>
          <a:bodyPr wrap="square" rtlCol="0">
            <a:spAutoFit/>
          </a:bodyPr>
          <a:lstStyle>
            <a:defPPr>
              <a:defRPr lang="en-US"/>
            </a:defPPr>
            <a:lvl1pPr fontAlgn="base" latinLnBrk="1">
              <a:defRPr/>
            </a:lvl1pPr>
          </a:lstStyle>
          <a:p>
            <a:r>
              <a:rPr lang="en-US" sz="3200" dirty="0"/>
              <a:t>&lt;Figure 5&gt; Proposed Framework for Electric Fire Short-Circuit Trace Classification</a:t>
            </a:r>
          </a:p>
        </p:txBody>
      </p:sp>
    </p:spTree>
    <p:extLst>
      <p:ext uri="{BB962C8B-B14F-4D97-AF65-F5344CB8AC3E}">
        <p14:creationId xmlns:p14="http://schemas.microsoft.com/office/powerpoint/2010/main" val="277094709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3133</TotalTime>
  <Words>519</Words>
  <Application>Microsoft Office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Arial (Body)</vt:lpstr>
      <vt:lpstr>HY견고딕</vt:lpstr>
      <vt:lpstr>맑은 고딕</vt:lpstr>
      <vt:lpstr>Arial</vt:lpstr>
      <vt:lpstr>Calibri</vt:lpstr>
      <vt:lpstr>Calibri Light</vt:lpstr>
      <vt:lpstr>Century Gothic</vt:lpstr>
      <vt:lpstr>Times New Roman</vt:lpstr>
      <vt:lpstr>Wingdings</vt:lpstr>
      <vt:lpstr>Office 테마</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it</dc:creator>
  <cp:lastModifiedBy>Hadi Nazari</cp:lastModifiedBy>
  <cp:revision>62</cp:revision>
  <cp:lastPrinted>2025-05-21T01:14:33Z</cp:lastPrinted>
  <dcterms:created xsi:type="dcterms:W3CDTF">2023-10-12T01:58:58Z</dcterms:created>
  <dcterms:modified xsi:type="dcterms:W3CDTF">2026-03-23T09:17:12Z</dcterms:modified>
</cp:coreProperties>
</file>